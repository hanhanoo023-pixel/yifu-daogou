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/Users/hanhan/Documents/7.25组会 韩含.pptx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- /Users/hanhan/yifu daogou/智能体对话式试衣推荐顾问_专项技术方案.docx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daogou/backend/llm_client.py</a:t>
            </a:r>
          </a:p>
          <a:p>
            <a:r>
              <a:t>- /Users/hanhan/yifu daogou/backend/product_query.py</a:t>
            </a:r>
          </a:p>
          <a:p>
            <a:r>
              <a:t>- /Users/hanhan/yifu daogou/backend/safety_guard.py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/Users/hanhan/yifu daogou/backend/recommender.py</a:t>
            </a:r>
          </a:p>
          <a:p>
            <a:r>
              <a:t>- /Users/hanhan/yifu daogou/backend/safety_guard.py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daogou/data/reports/fashion200k_strict_quality_audit_v3.json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daogou/data/reports/fashion200k_strict_quality_audit_v3.json</a:t>
            </a:r>
          </a:p>
          <a:p>
            <a:r>
              <a:t>- /Users/hanhan/yifu daogou/服装导购智能体纯文本评测台_DEMO版完整技术开发文档.docx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/Users/hanhan/yifu daogou/backend/product_query.py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daogou/backend/c_recommender/ranking.py</a:t>
            </a:r>
          </a:p>
          <a:p>
            <a:r>
              <a:t>- /Users/hanhan/yifu daogou/backend/recommender.py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daogou/backend/product_explanation.py</a:t>
            </a:r>
          </a:p>
          <a:p>
            <a:r>
              <a:t>- /Users/hanhan/yifu daogou/backend/safety_guard.py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https://43.159.138.39/（页面截图，2026-08-24）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daogou/backend/app.py</a:t>
            </a:r>
          </a:p>
          <a:p>
            <a:r>
              <a:t>- https://43.159.138.39/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/Users/hanhan/yifu daogou/data/reports/evaluation_draft_report.json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[Sources]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- /Users/hanhan/yifu daogou/data/reports/evaluation_draft_report.json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- /Users/hanhan/yifu daogou/data/reports/fashion200k_strict_quality_audit_v3.json</a:t>
            </a:r>
            <a:endParaRPr>
              <a:solidFill>
                <a:srgbClr val="C00000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t>[/Sources]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buNone/>
            </a:pPr>
            <a:r>
              <a:t>[Sources]</a:t>
            </a:r>
          </a:p>
          <a:p>
            <a:pPr>
              <a:spcBef>
                <a:spcPct val="0"/>
              </a:spcBef>
              <a:buNone/>
            </a:pPr>
            <a:r>
              <a:t>- /Users/hanhan/yifu daogou/服装导购智能体纯文本评测台_DEMO版完整技术开发文档.docx</a:t>
            </a:r>
          </a:p>
          <a:p>
            <a:pPr>
              <a:spcBef>
                <a:spcPct val="0"/>
              </a:spcBef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90204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685800" indent="-228600">
              <a:buFont typeface="Arial" panose="020B0604020202090204"/>
              <a:buChar char="‒"/>
              <a:defRPr>
                <a:latin typeface="+mn-ea"/>
                <a:ea typeface="+mn-ea"/>
                <a:cs typeface="+mn-ea"/>
              </a:defRPr>
            </a:lvl2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4971"/>
            <a:ext cx="5181600" cy="46819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480457"/>
            <a:ext cx="5181600" cy="4696506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6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451429"/>
            <a:ext cx="5157787" cy="7982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235200"/>
            <a:ext cx="5157787" cy="39544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422400"/>
            <a:ext cx="5183188" cy="7837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206171"/>
            <a:ext cx="5183188" cy="39834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8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/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760" y="0"/>
            <a:ext cx="993775" cy="2708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5207000"/>
            <a:ext cx="12192000" cy="4445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085465" y="1000125"/>
            <a:ext cx="9774555" cy="70866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44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1467714" y="1708785"/>
            <a:ext cx="2073910" cy="857250"/>
          </a:xfrm>
        </p:spPr>
        <p:txBody>
          <a:bodyPr/>
          <a:lstStyle>
            <a:lvl1pPr marL="0" marR="0" indent="0" algn="l">
              <a:lnSpc>
                <a:spcPct val="100000"/>
              </a:lnSpc>
              <a:spcBef>
                <a:spcPts val="1000"/>
              </a:spcBef>
              <a:buNone/>
              <a:defRPr sz="4800" b="0" i="0" u="none" kern="1200" cap="none" spc="0" baseline="0">
                <a:solidFill>
                  <a:schemeClr val="bg1"/>
                </a:solidFill>
                <a:latin typeface="Broadway"/>
                <a:ea typeface="Broadway"/>
                <a:cs typeface="Broadw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/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90204"/>
              <a:buChar char="•"/>
              <a:defRPr>
                <a:latin typeface="微软雅黑"/>
                <a:ea typeface="微软雅黑"/>
                <a:cs typeface="微软雅黑"/>
              </a:defRPr>
            </a:lvl1pPr>
            <a:lvl2pPr marL="685800" indent="-228600">
              <a:buFont typeface="Arial" panose="020B0604020202090204"/>
              <a:buChar char="‒"/>
              <a:defRPr>
                <a:latin typeface="+mn-ea"/>
                <a:ea typeface="+mn-ea"/>
                <a:cs typeface="+mn-ea"/>
              </a:defRPr>
            </a:lvl2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4971"/>
            <a:ext cx="5181600" cy="46819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480457"/>
            <a:ext cx="5181600" cy="4696506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1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2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6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451429"/>
            <a:ext cx="5157787" cy="79828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235200"/>
            <a:ext cx="5157787" cy="39544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422400"/>
            <a:ext cx="5183188" cy="78377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206171"/>
            <a:ext cx="5183188" cy="3983492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2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8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/>
      <p:sp>
        <p:nvSpPr>
          <p:cNvPr id="7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8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3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/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81760" y="0"/>
            <a:ext cx="993775" cy="2708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5207000"/>
            <a:ext cx="12192000" cy="44450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3085465" y="1000125"/>
            <a:ext cx="9774555" cy="708660"/>
          </a:xfrm>
          <a:prstGeom prst="rect">
            <a:avLst/>
          </a:prstGeom>
        </p:spPr>
        <p:txBody>
          <a:bodyPr anchor="ctr"/>
          <a:lstStyle>
            <a:lvl1pPr>
              <a:buNone/>
              <a:defRPr sz="44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1467714" y="1708785"/>
            <a:ext cx="2073910" cy="857250"/>
          </a:xfrm>
        </p:spPr>
        <p:txBody>
          <a:bodyPr/>
          <a:lstStyle>
            <a:lvl1pPr marL="0" marR="0" indent="0" algn="l">
              <a:lnSpc>
                <a:spcPct val="100000"/>
              </a:lnSpc>
              <a:spcBef>
                <a:spcPts val="1000"/>
              </a:spcBef>
              <a:buNone/>
              <a:defRPr sz="4800" b="0" i="0" u="none" kern="1200" cap="none" spc="0" baseline="0">
                <a:solidFill>
                  <a:schemeClr val="bg1"/>
                </a:solidFill>
                <a:latin typeface="Broadway"/>
                <a:ea typeface="Broadway"/>
                <a:cs typeface="Broadw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/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9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14" name="矩形 8"/>
          <p:cNvSpPr>
            <a:spLocks noGrp="1"/>
          </p:cNvSpPr>
          <p:nvPr/>
        </p:nvSpPr>
        <p:spPr>
          <a:xfrm>
            <a:off x="-14450" y="476673"/>
            <a:ext cx="199275" cy="476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  <a:prstGeom prst="rect">
            <a:avLst/>
          </a:prstGeom>
        </p:spPr>
        <p:txBody>
          <a:bodyPr anchor="ctr"/>
          <a:lstStyle>
            <a:lvl1pPr>
              <a:buNone/>
              <a:defRPr b="1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838200" y="1481138"/>
            <a:ext cx="10515600" cy="4695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2"/>
          <p:cNvSpPr>
            <a:spLocks noGrp="1"/>
          </p:cNvSpPr>
          <p:nvPr>
            <p:ph type="body" idx="1"/>
          </p:nvPr>
        </p:nvSpPr>
        <p:spPr>
          <a:xfrm>
            <a:off x="838200" y="1481138"/>
            <a:ext cx="10515600" cy="46958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dt="0"/>
  <p:txStyles>
    <p:titleStyle>
      <a:lvl1pPr algn="l">
        <a:lnSpc>
          <a:spcPct val="90000"/>
        </a:lnSpc>
        <a:spcBef>
          <a:spcPct val="0"/>
        </a:spcBef>
        <a:spcAft>
          <a:spcPct val="0"/>
        </a:spcAft>
        <a:buNone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2pPr>
      <a:lvl3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3pPr>
      <a:lvl4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4pPr>
      <a:lvl5pPr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4572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6pPr>
      <a:lvl7pPr marL="9144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7pPr>
      <a:lvl8pPr marL="13716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8pPr>
      <a:lvl9pPr marL="1828800" algn="l">
        <a:lnSpc>
          <a:spcPct val="90000"/>
        </a:lnSpc>
        <a:spcBef>
          <a:spcPct val="0"/>
        </a:spcBef>
        <a:spcAft>
          <a:spcPct val="0"/>
        </a:spcAft>
        <a:buNone/>
        <a:defRPr sz="3200">
          <a:solidFill>
            <a:schemeClr val="tx1"/>
          </a:solidFill>
          <a:latin typeface="微软雅黑"/>
          <a:ea typeface="微软雅黑"/>
          <a:cs typeface="微软雅黑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ct val="0"/>
        </a:spcAft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ct val="0"/>
        </a:spcAft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20713" y="782638"/>
            <a:ext cx="508000" cy="508000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1679768"/>
            <a:ext cx="6084888" cy="33686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00750" y="2501900"/>
            <a:ext cx="6191250" cy="194627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l">
              <a:lnSpc>
                <a:spcPct val="103000"/>
              </a:lnSpc>
              <a:buNone/>
              <a:def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对话式 AI 服装导购系统</a:t>
            </a:r>
            <a:endParaRPr sz="2400" b="0" i="0" u="none" baseline="0">
              <a:latin typeface="黑体"/>
              <a:ea typeface="黑体"/>
              <a:cs typeface="黑体"/>
            </a:endParaRPr>
          </a:p>
          <a:p>
            <a:pPr algn="l">
              <a:lnSpc>
                <a:spcPct val="103000"/>
              </a:lnSpc>
              <a:buNone/>
              <a:def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设计、实现与评测</a:t>
            </a:r>
            <a:endParaRPr sz="2400" b="0" i="0" u="none" baseline="0">
              <a:latin typeface="黑体"/>
              <a:ea typeface="黑体"/>
              <a:cs typeface="黑体"/>
            </a:endParaRPr>
          </a:p>
        </p:txBody>
      </p:sp>
      <p:sp>
        <p:nvSpPr>
          <p:cNvPr id="9222" name="文本框 10"/>
          <p:cNvSpPr>
            <a:spLocks noGrp="1"/>
          </p:cNvSpPr>
          <p:nvPr/>
        </p:nvSpPr>
        <p:spPr>
          <a:xfrm>
            <a:off x="6492920" y="4793417"/>
            <a:ext cx="56990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87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汇报人：韩含</a:t>
            </a:r>
            <a:endParaRPr sz="2000" b="1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28713" y="1036638"/>
            <a:ext cx="254000" cy="254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170363" y="2503488"/>
            <a:ext cx="1925637" cy="1941512"/>
          </a:xfrm>
          <a:prstGeom prst="rect">
            <a:avLst/>
          </a:prstGeom>
          <a:solidFill>
            <a:srgbClr val="6C0000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9231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33011" y="380984"/>
            <a:ext cx="3221035" cy="1288413"/>
          </a:xfrm>
          <a:prstGeom prst="rect">
            <a:avLst/>
          </a:prstGeom>
        </p:spPr>
      </p:pic>
      <p:pic>
        <p:nvPicPr>
          <p:cNvPr id="9232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625" y="2502093"/>
            <a:ext cx="4122738" cy="254635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</a:t>
            </a:r>
          </a:p>
        </p:txBody>
      </p:sp>
      <p:sp>
        <p:nvSpPr>
          <p:cNvPr id="3" name="文本框 10"/>
          <p:cNvSpPr>
            <a:spLocks noGrp="1"/>
          </p:cNvSpPr>
          <p:nvPr/>
        </p:nvSpPr>
        <p:spPr>
          <a:xfrm>
            <a:off x="6562770" y="5473502"/>
            <a:ext cx="56990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def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时间：2026.08.24</a:t>
            </a:r>
            <a:endParaRPr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项目背景：为什么需要对话式服装导购</a:t>
            </a:r>
            <a:endParaRPr b="0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2</a:t>
            </a:r>
          </a:p>
        </p:txBody>
      </p: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125" y="1853565"/>
            <a:ext cx="1905000" cy="1905000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1249680" y="1428750"/>
            <a:ext cx="7334250" cy="4762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传统电商搜索依赖关键词和筛选器，但服装需求往往同时包含功能约束与主观偏好。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/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典型表达：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“想要一件适合春天、温柔风、浅色、300元以内的裙子。”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/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现有方式的不足：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难以理解“温柔风、通勤、正式”等模糊语义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用户需要反复组合品类、颜色、尺码和预算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商品字段缺失、图片失效及颜色变体错配会降低推荐可信度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  <a:p/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项目切入点：将自然语言理解、商品检索和可信解释连接成连续对话。</a:t>
            </a:r>
            <a:endParaRPr sz="1725">
              <a:solidFill>
                <a:srgbClr val="292929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研究问题与项目目标</a:t>
            </a:r>
            <a:endParaRPr b="0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3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67030" y="1574800"/>
            <a:ext cx="9048750" cy="45231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核心研究问题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如何把自然语言转换为可执行、可更新的商品条件？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如何同时满足品类、颜色、尺码、预算等硬约束与风格软偏好？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如何在多轮对话中解析“换一件”“第2件多少钱”等上下文指代？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如何避免推荐理由编造价格、材质、尺码和库存？</a:t>
            </a:r>
            <a:endParaRPr sz="1800"/>
          </a:p>
          <a:p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项目目标</a:t>
            </a:r>
            <a:endParaRPr sz="1800"/>
          </a:p>
          <a:p>
            <a:pPr>
              <a:lnSpc>
                <a:spcPct val="116000"/>
              </a:lnSpc>
              <a:buNone/>
              <a:def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构建“意图理解 → 商品筛选 → 融合排序 → 推荐解释 → 安全检查”的完整闭环，并形成可公开访问、可持续评测的演示系统。</a:t>
            </a:r>
            <a:endParaRPr sz="1800"/>
          </a:p>
        </p:txBody>
      </p:sp>
      <p:pic>
        <p:nvPicPr>
          <p:cNvPr id="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120" y="1680210"/>
            <a:ext cx="2359660" cy="2359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功能需求与系统边界</a:t>
            </a:r>
            <a:endParaRPr b="0"/>
          </a:p>
        </p:txBody>
      </p:sp>
      <p:pic>
        <p:nvPicPr>
          <p:cNvPr id="1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4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1365250" y="1716405"/>
            <a:ext cx="9479280" cy="31470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已实现的核心能力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1. 推荐与浏览：根据品类、颜色、尺码、预算、季节、材质和风格返回商品。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2. 商品追问：询问价格、材质、库存、推荐原因或请求替换商品。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3. 对话控制：识别信息不足、条件冲突、负向条件和超出服装导购范围的问题。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4. 可信输出：显示字段来源，对推荐理由执行 PASS / REWRITE / BLOCK。</a:t>
            </a:r>
            <a:endParaRPr sz="2000"/>
          </a:p>
          <a:p>
            <a:pPr algn="l">
              <a:buNone/>
            </a:pP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当前系统边界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不接入真实订单、支付、优惠券和实时库存。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不实现虚拟试穿与跨设备长期用户画像。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当前目标是可验证的文本推荐闭环，而不是完整电商交易系统。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/>
        </p:nvSpPr>
        <p:spPr>
          <a:xfrm>
            <a:off x="509873" y="55245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  <a:defRPr sz="25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总体技术架构</a:t>
            </a:r>
            <a:endParaRPr sz="1600" b="1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9" name="architecture-user"/>
          <p:cNvSpPr>
            <a:spLocks noGrp="1"/>
          </p:cNvSpPr>
          <p:nvPr/>
        </p:nvSpPr>
        <p:spPr>
          <a:xfrm>
            <a:off x="428625" y="2571750"/>
            <a:ext cx="1571625" cy="1095375"/>
          </a:xfrm>
          <a:prstGeom prst="roundRect">
            <a:avLst>
              <a:gd name="adj" fmla="val 12174"/>
            </a:avLst>
          </a:prstGeom>
          <a:solidFill>
            <a:srgbClr val="FFF2F4"/>
          </a:solidFill>
          <a:ln w="17145">
            <a:solidFill>
              <a:srgbClr val="B40019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用户自然语言</a:t>
            </a:r>
            <a:endParaRPr sz="135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推荐 / 追问 / 修改条件</a:t>
            </a:r>
            <a:endParaRPr sz="135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architecture-arrow-in"/>
          <p:cNvSpPr>
            <a:spLocks noGrp="1"/>
          </p:cNvSpPr>
          <p:nvPr/>
        </p:nvSpPr>
        <p:spPr>
          <a:xfrm>
            <a:off x="2076450" y="2933700"/>
            <a:ext cx="3048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1" name="architecture-layer-1"/>
          <p:cNvSpPr>
            <a:spLocks noGrp="1"/>
          </p:cNvSpPr>
          <p:nvPr/>
        </p:nvSpPr>
        <p:spPr>
          <a:xfrm>
            <a:off x="2571750" y="1381125"/>
            <a:ext cx="6572250" cy="819150"/>
          </a:xfrm>
          <a:prstGeom prst="roundRect">
            <a:avLst>
              <a:gd name="adj" fmla="val 16279"/>
            </a:avLst>
          </a:prstGeom>
          <a:solidFill>
            <a:srgbClr val="FFF7F8"/>
          </a:solidFill>
          <a:ln w="11430">
            <a:solidFill>
              <a:srgbClr val="D6A1AB"/>
            </a:solidFill>
            <a:prstDash val="solid"/>
          </a:ln>
        </p:spPr>
        <p:txBody>
          <a:bodyPr lIns="171450" tIns="76200" rIns="152400" bIns="76200" anchor="ctr">
            <a:normAutofit/>
          </a:bodyPr>
          <a:lstStyle/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交互层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Next.js 对话界面｜筛选标签｜商品卡片｜商品编号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architecture-layer-2"/>
          <p:cNvSpPr>
            <a:spLocks noGrp="1"/>
          </p:cNvSpPr>
          <p:nvPr/>
        </p:nvSpPr>
        <p:spPr>
          <a:xfrm>
            <a:off x="2571750" y="2447925"/>
            <a:ext cx="6572250" cy="819150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 w="11430">
            <a:solidFill>
              <a:srgbClr val="D6A1AB"/>
            </a:solidFill>
            <a:prstDash val="solid"/>
          </a:ln>
        </p:spPr>
        <p:txBody>
          <a:bodyPr lIns="171450" tIns="76200" rIns="152400" bIns="76200" anchor="ctr">
            <a:normAutofit/>
          </a:bodyPr>
          <a:lstStyle/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业务编排层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FastAPI /api/chat｜意图解析｜冲突检测｜多轮状态｜商品问答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3" name="architecture-layer-3"/>
          <p:cNvSpPr>
            <a:spLocks noGrp="1"/>
          </p:cNvSpPr>
          <p:nvPr/>
        </p:nvSpPr>
        <p:spPr>
          <a:xfrm>
            <a:off x="2571750" y="3514725"/>
            <a:ext cx="6572250" cy="819150"/>
          </a:xfrm>
          <a:prstGeom prst="roundRect">
            <a:avLst>
              <a:gd name="adj" fmla="val 16279"/>
            </a:avLst>
          </a:prstGeom>
          <a:solidFill>
            <a:srgbClr val="FFF7F8"/>
          </a:solidFill>
          <a:ln w="19050">
            <a:solidFill>
              <a:srgbClr val="B40019"/>
            </a:solidFill>
            <a:prstDash val="solid"/>
          </a:ln>
        </p:spPr>
        <p:txBody>
          <a:bodyPr lIns="171450" tIns="76200" rIns="152400" bIns="76200" anchor="ctr">
            <a:normAutofit/>
          </a:bodyPr>
          <a:lstStyle/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推荐与可信层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SQL硬筛选｜语义召回｜35/65融合排序｜风格匹配｜解释｜SafetyGuard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architecture-layer-4"/>
          <p:cNvSpPr>
            <a:spLocks noGrp="1"/>
          </p:cNvSpPr>
          <p:nvPr/>
        </p:nvSpPr>
        <p:spPr>
          <a:xfrm>
            <a:off x="2571750" y="4581525"/>
            <a:ext cx="6572250" cy="819150"/>
          </a:xfrm>
          <a:prstGeom prst="roundRect">
            <a:avLst>
              <a:gd name="adj" fmla="val 16279"/>
            </a:avLst>
          </a:prstGeom>
          <a:solidFill>
            <a:srgbClr val="F7F8FA"/>
          </a:solidFill>
          <a:ln w="11430">
            <a:solidFill>
              <a:srgbClr val="D6A1AB"/>
            </a:solidFill>
            <a:prstDash val="solid"/>
          </a:ln>
        </p:spPr>
        <p:txBody>
          <a:bodyPr lIns="171450" tIns="76200" rIns="152400" bIns="76200" anchor="ctr">
            <a:normAutofit/>
          </a:bodyPr>
          <a:lstStyle/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数据与基础设施层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SQLite商品库｜向量索引｜字段来源标签｜API usage日志</a:t>
            </a:r>
            <a:endParaRPr sz="1350" b="1">
              <a:solidFill>
                <a:srgbClr val="3030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5" name="architecture-arrow-out"/>
          <p:cNvSpPr>
            <a:spLocks noGrp="1"/>
          </p:cNvSpPr>
          <p:nvPr/>
        </p:nvSpPr>
        <p:spPr>
          <a:xfrm>
            <a:off x="9239250" y="2933700"/>
            <a:ext cx="3048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6" name="architecture-output"/>
          <p:cNvSpPr>
            <a:spLocks noGrp="1"/>
          </p:cNvSpPr>
          <p:nvPr/>
        </p:nvSpPr>
        <p:spPr>
          <a:xfrm>
            <a:off x="9667875" y="2571750"/>
            <a:ext cx="2000250" cy="1095375"/>
          </a:xfrm>
          <a:prstGeom prst="roundRect">
            <a:avLst>
              <a:gd name="adj" fmla="val 12174"/>
            </a:avLst>
          </a:prstGeom>
          <a:solidFill>
            <a:srgbClr val="FFF2F4"/>
          </a:solidFill>
          <a:ln w="17145">
            <a:solidFill>
              <a:srgbClr val="B40019"/>
            </a:solidFill>
            <a:prstDash val="solid"/>
          </a:ln>
        </p:spPr>
        <p:txBody>
          <a:bodyPr lIns="76200" tIns="57150" rIns="76200" bIns="57150" anchor="ctr">
            <a:normAutofit/>
          </a:bodyPr>
          <a:lstStyle/>
          <a:p>
            <a:pPr algn="ctr">
              <a:def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Top-K 推荐结果</a:t>
            </a:r>
            <a:endParaRPr sz="135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理由 + 安全状态</a:t>
            </a:r>
            <a:endParaRPr sz="135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支持继续追问</a:t>
            </a:r>
            <a:endParaRPr sz="1350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7" name="architecture-flow"/>
          <p:cNvSpPr>
            <a:spLocks noGrp="1"/>
          </p:cNvSpPr>
          <p:nvPr/>
        </p:nvSpPr>
        <p:spPr>
          <a:xfrm>
            <a:off x="2476500" y="5810250"/>
            <a:ext cx="6858000" cy="400050"/>
          </a:xfrm>
          <a:prstGeom prst="roundRect">
            <a:avLst>
              <a:gd name="adj" fmla="val 33333"/>
            </a:avLst>
          </a:prstGeom>
          <a:noFill/>
          <a:ln w="9525">
            <a:solidFill>
              <a:srgbClr val="C26072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8E1D3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E1D30"/>
                </a:solidFill>
                <a:latin typeface="微软雅黑"/>
                <a:ea typeface="微软雅黑"/>
                <a:cs typeface="微软雅黑"/>
              </a:rPr>
              <a:t>主调用链：理解 → 状态更新 → 检索 → 排序 → 解释 → 安全检查</a:t>
            </a:r>
            <a:endParaRPr sz="1350" b="1">
              <a:solidFill>
                <a:srgbClr val="8E1D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商品数据构建过程</a:t>
            </a:r>
            <a:endParaRPr b="0"/>
          </a:p>
        </p:txBody>
      </p:sp>
      <p:pic>
        <p:nvPicPr>
          <p:cNvPr id="12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6</a:t>
            </a: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1365250" y="1716405"/>
            <a:ext cx="9479280" cy="31470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数据处理链路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1. 流式扫描 Amazon 原始商品：7,218,481 条，不解压完整18GB文件。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2. 保留真实商品ID、标题、品类、主图，以及 Amazon 明确且可标准化的颜色。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3. 得到 Amazon 主库 252,413 条；缺失价格、尺码、季节和库存按演示规则补齐并记录来源。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4. 接入 Fashion200K Demo 4,971 条，完成图片与颜色/品类质量审计。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5. 合并后数据库总量 257,384 条，当前可推荐 255,707 条。</a:t>
            </a: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6. 建立数据库索引、商品文本、向量索引和数据审计报告。</a:t>
            </a:r>
            <a:endParaRPr sz="2000"/>
          </a:p>
          <a:p>
            <a:pPr algn="l">
              <a:buNone/>
            </a:pPr>
            <a:endParaRPr sz="2000"/>
          </a:p>
          <a:p>
            <a:pPr algn="l"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原则：原始数据不修改；构建临时数据库并校验后再替换正式库。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数据真实性与质量边界</a:t>
            </a:r>
            <a:endParaRPr b="0"/>
          </a:p>
        </p:txBody>
      </p:sp>
      <p:pic>
        <p:nvPicPr>
          <p:cNvPr id="13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7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67030" y="1574800"/>
            <a:ext cx="9048750" cy="452310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不可编造的字段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商品ID、标题、品类、主图链接和明确颜色来自原始数据。</a:t>
            </a:r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颜色仅使用 Amazon details.Color 标准化结果，不随机补色。</a:t>
            </a:r>
            <a:endParaRPr sz="1800"/>
          </a:p>
          <a:p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Amazon 主库 252,413 条中的演示字段</a:t>
            </a:r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模拟价格：168,808 条；模拟尺码：220,810 条</a:t>
            </a:r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模拟季节：251,459 条；模拟库存：252,413 条</a:t>
            </a:r>
            <a:endParaRPr sz="1800"/>
          </a:p>
          <a:p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Fashion200K 图片质量审计</a:t>
            </a:r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审计 4,971 条：严格通过 3,294 条，未通过 1,677 条</a:t>
            </a:r>
            <a:endParaRPr sz="1800"/>
          </a:p>
          <a:p>
            <a:endParaRPr sz="1800"/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endParaRPr sz="1800"/>
          </a:p>
        </p:txBody>
      </p:sp>
      <p:pic>
        <p:nvPicPr>
          <p:cNvPr id="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120" y="1680210"/>
            <a:ext cx="2359660" cy="23596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96152" y="49692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多轮对话：条件如何持续更新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990600" y="1097915"/>
            <a:ext cx="9003665" cy="5029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第一轮　“推荐浅色连衣裙”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状态：category=dress，color=light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第二轮　“预算改成300以内，春天穿”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状态：保留品类和颜色，新增 max_price=300、season=spring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第三轮　“第2件多少钱？不要羊毛的”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状态：解析商品编号指代，调用价格问答；新增 excluded_materials=[wool]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50000"/>
              </a:lnSpc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状态更新规则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新条件合并，明确修改覆盖旧值，否定条件进入排除列表。</a:t>
            </a:r>
            <a:endParaRPr sz="1800"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当前商品ID、上一轮商品列表和筛选条件共同作为下一轮上下文。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570" y="448628"/>
            <a:ext cx="11049000" cy="553307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商品检索与融合排序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858645" y="1002030"/>
            <a:ext cx="8475345" cy="54406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阶段一：硬约束筛选</a:t>
            </a:r>
            <a:endParaRPr>
              <a:latin typeface="楷体"/>
              <a:ea typeface="楷体"/>
              <a:cs typeface="楷体"/>
            </a:endParaRPr>
          </a:p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使用 SQL/规则过滤品类、颜色、尺码、季节、预算和库存，明确条件不允许被语义相似度覆盖。</a:t>
            </a:r>
            <a:endParaRPr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阶段二：语义与规则融合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FinalScore = 0.35 × SemanticScore + 0.65 × RuleScore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SemanticScore：查询与商品文本向量的相似度，并进行 min-max 归一化。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RuleScore：条件匹配、评分、评论数量、字段来源与完整度等规则特征。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同分时继续参考 rating、rating_count 和商品ID，保证结果稳定。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当前限制：35/65来自工程设定，仍需基于人工相关性标签进行消融实验与权重校准。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7570" y="448628"/>
            <a:ext cx="11049000" cy="553307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推荐解释与 SafetyGuard</a:t>
            </a:r>
            <a:endParaRPr sz="2800" b="0"/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1858645" y="1002030"/>
            <a:ext cx="8475345" cy="6675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6000"/>
              </a:lnSpc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ProductExplanation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将用户条件与商品字段逐项对应：品类、颜色、预算、材质、尺码和风格证据。推荐理由保留 original 与 safe 两个版本。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事实声明检查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从文案中抽取 PRICE、MATERIAL、STOCK、TITLE、CATEGORY、BRAND、COLOR、FEATURE 和 DEMO_SOURCE，与商品字段核对。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安全决策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PASS：所有声明均有字段支持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REWRITE：存在可修正话术，使用安全理由重写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BLOCK：关键事实不支持或触发高风险规则，禁止展示原理由</a:t>
            </a: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800">
              <a:latin typeface="楷体"/>
              <a:ea typeface="楷体"/>
              <a:cs typeface="楷体"/>
            </a:endParaRPr>
          </a:p>
          <a:p>
            <a:pPr algn="l">
              <a:lnSpc>
                <a:spcPct val="116000"/>
              </a:lnSpc>
              <a:buClrTx/>
              <a:buSzTx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同时禁止“全网最低”“只剩最后一件”等不可信话术，并保存每次有效API请求的原始 usage。</a:t>
            </a:r>
            <a:endParaRPr sz="1800">
              <a:latin typeface="楷体"/>
              <a:ea typeface="楷体"/>
              <a:cs typeface="楷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6760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真实系统交互示例</a:t>
            </a:r>
            <a:endParaRPr b="0"/>
          </a:p>
        </p:txBody>
      </p:sp>
      <p:pic>
        <p:nvPicPr>
          <p:cNvPr id="14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页脚占位符 8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12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1257895"/>
            <a:ext cx="9429750" cy="5304234"/>
          </a:xfrm>
          <a:prstGeom prst="roundRect">
            <a:avLst>
              <a:gd name="adj" fmla="val 2154"/>
            </a:avLst>
          </a:prstGeom>
        </p:spPr>
      </p:pic>
      <p:sp>
        <p:nvSpPr>
          <p:cNvPr id="12" name="screenshot-caption"/>
          <p:cNvSpPr>
            <a:spLocks noGrp="1"/>
          </p:cNvSpPr>
          <p:nvPr/>
        </p:nvSpPr>
        <p:spPr>
          <a:xfrm>
            <a:off x="1809750" y="6096000"/>
            <a:ext cx="8572500" cy="400050"/>
          </a:xfrm>
          <a:prstGeom prst="roundRect">
            <a:avLst>
              <a:gd name="adj" fmla="val 33333"/>
            </a:avLst>
          </a:prstGeom>
          <a:solidFill>
            <a:srgbClr val="FFFFFF">
              <a:alpha val="86667"/>
            </a:srgbClr>
          </a:solidFill>
          <a:ln w="9525">
            <a:solidFill>
              <a:srgbClr val="D6A1AB"/>
            </a:solidFill>
            <a:prstDash val="solid"/>
          </a:ln>
        </p:spPr>
        <p:txBody>
          <a:bodyPr lIns="76200" tIns="38100" rIns="76200" bIns="38100" anchor="ctr">
            <a:normAutofit/>
          </a:bodyPr>
          <a:lstStyle/>
          <a:p>
            <a:pPr algn="ctr">
              <a:defRPr sz="12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rPr>
              <a:t>真实示例：系统识别黄色上衣、夏季、L码与温柔风偏好，并支持“第2件多少钱”的上下文追问。</a:t>
            </a:r>
            <a:endParaRPr sz="1200" b="1">
              <a:solidFill>
                <a:srgbClr val="7E1D2E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0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1279" y="8178"/>
            <a:ext cx="1007745" cy="993775"/>
          </a:xfrm>
          <a:prstGeom prst="rect">
            <a:avLst/>
          </a:prstGeom>
        </p:spPr>
      </p:pic>
      <p:sp>
        <p:nvSpPr>
          <p:cNvPr id="9" name="title 3"/>
          <p:cNvSpPr>
            <a:spLocks noGrp="1"/>
          </p:cNvSpPr>
          <p:nvPr/>
        </p:nvSpPr>
        <p:spPr>
          <a:xfrm>
            <a:off x="509873" y="55245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r">
              <a:buNone/>
              <a:defRPr sz="25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工程实现与腾讯云部署</a:t>
            </a:r>
            <a:endParaRPr sz="1600" b="1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9" name="deploy-node-1"/>
          <p:cNvSpPr>
            <a:spLocks noGrp="1"/>
          </p:cNvSpPr>
          <p:nvPr/>
        </p:nvSpPr>
        <p:spPr>
          <a:xfrm>
            <a:off x="666750" y="2238375"/>
            <a:ext cx="1762125" cy="1190625"/>
          </a:xfrm>
          <a:prstGeom prst="roundRect">
            <a:avLst>
              <a:gd name="adj" fmla="val 11200"/>
            </a:avLst>
          </a:prstGeom>
          <a:solidFill>
            <a:srgbClr val="FFF2F4"/>
          </a:solidFill>
          <a:ln w="12383">
            <a:solidFill>
              <a:srgbClr val="D6A1AB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用户浏览器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HTTPS 443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0" name="deploy-arrow-1"/>
          <p:cNvSpPr>
            <a:spLocks noGrp="1"/>
          </p:cNvSpPr>
          <p:nvPr/>
        </p:nvSpPr>
        <p:spPr>
          <a:xfrm>
            <a:off x="2333625" y="2695575"/>
            <a:ext cx="3429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1" name="deploy-node-2"/>
          <p:cNvSpPr>
            <a:spLocks noGrp="1"/>
          </p:cNvSpPr>
          <p:nvPr/>
        </p:nvSpPr>
        <p:spPr>
          <a:xfrm>
            <a:off x="2857500" y="2238375"/>
            <a:ext cx="1762125" cy="1190625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9050">
            <a:solidFill>
              <a:srgbClr val="B40019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Nginx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反向代理 / 静态入口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2" name="deploy-arrow-2"/>
          <p:cNvSpPr>
            <a:spLocks noGrp="1"/>
          </p:cNvSpPr>
          <p:nvPr/>
        </p:nvSpPr>
        <p:spPr>
          <a:xfrm>
            <a:off x="4524375" y="2695575"/>
            <a:ext cx="3429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3" name="deploy-node-3"/>
          <p:cNvSpPr>
            <a:spLocks noGrp="1"/>
          </p:cNvSpPr>
          <p:nvPr/>
        </p:nvSpPr>
        <p:spPr>
          <a:xfrm>
            <a:off x="5048250" y="2238375"/>
            <a:ext cx="1762125" cy="1190625"/>
          </a:xfrm>
          <a:prstGeom prst="roundRect">
            <a:avLst>
              <a:gd name="adj" fmla="val 11200"/>
            </a:avLst>
          </a:prstGeom>
          <a:solidFill>
            <a:srgbClr val="FFF7F8"/>
          </a:solidFill>
          <a:ln w="12383">
            <a:solidFill>
              <a:srgbClr val="D6A1AB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Next.js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前端 3000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4" name="deploy-arrow-3"/>
          <p:cNvSpPr>
            <a:spLocks noGrp="1"/>
          </p:cNvSpPr>
          <p:nvPr/>
        </p:nvSpPr>
        <p:spPr>
          <a:xfrm>
            <a:off x="6715125" y="2695575"/>
            <a:ext cx="3429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5" name="deploy-node-4"/>
          <p:cNvSpPr>
            <a:spLocks noGrp="1"/>
          </p:cNvSpPr>
          <p:nvPr/>
        </p:nvSpPr>
        <p:spPr>
          <a:xfrm>
            <a:off x="7239000" y="2238375"/>
            <a:ext cx="1762125" cy="1190625"/>
          </a:xfrm>
          <a:prstGeom prst="roundRect">
            <a:avLst>
              <a:gd name="adj" fmla="val 11200"/>
            </a:avLst>
          </a:prstGeom>
          <a:solidFill>
            <a:srgbClr val="F7F8FA"/>
          </a:solidFill>
          <a:ln w="12383">
            <a:solidFill>
              <a:srgbClr val="D6A1AB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FastAPI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后端 8000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6" name="deploy-arrow-4"/>
          <p:cNvSpPr>
            <a:spLocks noGrp="1"/>
          </p:cNvSpPr>
          <p:nvPr/>
        </p:nvSpPr>
        <p:spPr>
          <a:xfrm>
            <a:off x="8905875" y="2695575"/>
            <a:ext cx="342900" cy="285750"/>
          </a:xfrm>
          <a:prstGeom prst="rightArrow">
            <a:avLst/>
          </a:prstGeom>
          <a:solidFill>
            <a:srgbClr val="B40019"/>
          </a:solidFill>
          <a:ln w="0">
            <a:solidFill>
              <a:srgbClr val="B40019"/>
            </a:solidFill>
            <a:prstDash val="solid"/>
          </a:ln>
        </p:spPr>
        <p:txBody>
          <a:bodyPr/>
          <a:lstStyle/>
          <a:p/>
        </p:txBody>
      </p:sp>
      <p:sp>
        <p:nvSpPr>
          <p:cNvPr id="147" name="deploy-node-5"/>
          <p:cNvSpPr>
            <a:spLocks noGrp="1"/>
          </p:cNvSpPr>
          <p:nvPr/>
        </p:nvSpPr>
        <p:spPr>
          <a:xfrm>
            <a:off x="9429750" y="2238375"/>
            <a:ext cx="1762125" cy="1190625"/>
          </a:xfrm>
          <a:prstGeom prst="roundRect">
            <a:avLst>
              <a:gd name="adj" fmla="val 11200"/>
            </a:avLst>
          </a:prstGeom>
          <a:solidFill>
            <a:srgbClr val="FFF2F4"/>
          </a:solidFill>
          <a:ln w="12383">
            <a:solidFill>
              <a:srgbClr val="D6A1AB"/>
            </a:solidFill>
            <a:prstDash val="solid"/>
          </a:ln>
        </p:spPr>
        <p:txBody>
          <a:bodyPr lIns="76200" tIns="76200" rIns="76200" bIns="76200" anchor="ctr">
            <a:normAutofit/>
          </a:bodyPr>
          <a:lstStyle/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数据层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D2D2D"/>
                </a:solidFill>
                <a:latin typeface="微软雅黑"/>
                <a:ea typeface="微软雅黑"/>
                <a:cs typeface="微软雅黑"/>
              </a:rPr>
              <a:t>SQLite + 向量索引</a:t>
            </a:r>
            <a:endParaRPr sz="1425" b="1">
              <a:solidFill>
                <a:srgbClr val="2D2D2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8" name="deploy-host"/>
          <p:cNvSpPr>
            <a:spLocks noGrp="1"/>
          </p:cNvSpPr>
          <p:nvPr/>
        </p:nvSpPr>
        <p:spPr>
          <a:xfrm>
            <a:off x="1428750" y="4000500"/>
            <a:ext cx="9334500" cy="685800"/>
          </a:xfrm>
          <a:prstGeom prst="roundRect">
            <a:avLst>
              <a:gd name="adj" fmla="val 19444"/>
            </a:avLst>
          </a:prstGeom>
          <a:solidFill>
            <a:srgbClr val="F7E9EC"/>
          </a:solidFill>
          <a:ln w="11430">
            <a:solidFill>
              <a:srgbClr val="C26072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5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E1D2E"/>
                </a:solidFill>
                <a:latin typeface="微软雅黑"/>
                <a:ea typeface="微软雅黑"/>
                <a:cs typeface="微软雅黑"/>
              </a:rPr>
              <a:t>腾讯云 Ubuntu｜安全组开放 80/443｜Nginx 统一入口｜进程重启与健康检查</a:t>
            </a:r>
            <a:endParaRPr sz="1500" b="1">
              <a:solidFill>
                <a:srgbClr val="7E1D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9" name="deploy-url"/>
          <p:cNvSpPr>
            <a:spLocks noGrp="1"/>
          </p:cNvSpPr>
          <p:nvPr/>
        </p:nvSpPr>
        <p:spPr>
          <a:xfrm>
            <a:off x="3000375" y="5048250"/>
            <a:ext cx="6191250" cy="590550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4288">
            <a:solidFill>
              <a:srgbClr val="B40019"/>
            </a:solidFill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公网演示：https://43.159.138.39</a:t>
            </a:r>
            <a:endParaRPr sz="1725" b="1">
              <a:solidFill>
                <a:srgbClr val="9D223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448913"/>
            <a:ext cx="9502140" cy="552450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测试结果与评测边界</a:t>
            </a:r>
            <a:endParaRPr b="0" i="0"/>
          </a:p>
        </p:txBody>
      </p:sp>
      <p:pic>
        <p:nvPicPr>
          <p:cNvPr id="108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7235" y="0"/>
            <a:ext cx="783590" cy="748665"/>
          </a:xfrm>
          <a:prstGeom prst="rect">
            <a:avLst/>
          </a:prstGeom>
        </p:spPr>
      </p:pic>
      <p:pic>
        <p:nvPicPr>
          <p:cNvPr id="109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610" y="7620"/>
            <a:ext cx="1007745" cy="993775"/>
          </a:xfrm>
          <a:prstGeom prst="rect">
            <a:avLst/>
          </a:prstGeom>
        </p:spPr>
      </p:pic>
      <p:sp>
        <p:nvSpPr>
          <p:cNvPr id="10" name="AutoShape 2"/>
          <p:cNvSpPr>
            <a:spLocks noGrp="1"/>
          </p:cNvSpPr>
          <p:nvPr/>
        </p:nvSpPr>
        <p:spPr>
          <a:xfrm>
            <a:off x="5807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1" name="AutoShape 3"/>
          <p:cNvSpPr>
            <a:spLocks noGrp="1"/>
          </p:cNvSpPr>
          <p:nvPr/>
        </p:nvSpPr>
        <p:spPr>
          <a:xfrm>
            <a:off x="629285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2" name="AutoShape 4"/>
          <p:cNvSpPr>
            <a:spLocks noGrp="1"/>
          </p:cNvSpPr>
          <p:nvPr/>
        </p:nvSpPr>
        <p:spPr>
          <a:xfrm>
            <a:off x="1055052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3" name="AutoShape 5"/>
          <p:cNvSpPr>
            <a:spLocks noGrp="1"/>
          </p:cNvSpPr>
          <p:nvPr/>
        </p:nvSpPr>
        <p:spPr>
          <a:xfrm>
            <a:off x="109728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4" name="AutoShape 6"/>
          <p:cNvSpPr>
            <a:spLocks noGrp="1"/>
          </p:cNvSpPr>
          <p:nvPr/>
        </p:nvSpPr>
        <p:spPr>
          <a:xfrm>
            <a:off x="11341100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6" name="AutoShape 8"/>
          <p:cNvSpPr>
            <a:spLocks noGrp="1"/>
          </p:cNvSpPr>
          <p:nvPr/>
        </p:nvSpPr>
        <p:spPr>
          <a:xfrm>
            <a:off x="5959475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7" name="AutoShape 9"/>
          <p:cNvSpPr>
            <a:spLocks noGrp="1"/>
          </p:cNvSpPr>
          <p:nvPr/>
        </p:nvSpPr>
        <p:spPr>
          <a:xfrm>
            <a:off x="644525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8" name="AutoShape 10"/>
          <p:cNvSpPr>
            <a:spLocks noGrp="1"/>
          </p:cNvSpPr>
          <p:nvPr/>
        </p:nvSpPr>
        <p:spPr>
          <a:xfrm>
            <a:off x="10702925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9" name="AutoShape 11"/>
          <p:cNvSpPr>
            <a:spLocks noGrp="1"/>
          </p:cNvSpPr>
          <p:nvPr/>
        </p:nvSpPr>
        <p:spPr>
          <a:xfrm>
            <a:off x="1112520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20" name="AutoShape 12"/>
          <p:cNvSpPr>
            <a:spLocks noGrp="1"/>
          </p:cNvSpPr>
          <p:nvPr/>
        </p:nvSpPr>
        <p:spPr>
          <a:xfrm>
            <a:off x="11493500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14</a:t>
            </a: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288415" y="1367155"/>
            <a:ext cx="4471035" cy="3429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工程验证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后端测试：54 passed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前端生产构建：通过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50000"/>
              </a:lnSpc>
              <a:buNone/>
            </a:pP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自动回归结果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规则意图基线：45 / 50，准确率 90%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推荐查询：30 条，覆盖率 86.7%，共返回 70 件商品</a:t>
            </a:r>
            <a:endParaRPr sz="1800">
              <a:latin typeface="微软雅黑"/>
              <a:ea typeface="微软雅黑"/>
              <a:cs typeface="微软雅黑"/>
            </a:endParaRPr>
          </a:p>
          <a:p>
            <a:pPr marL="0" indent="0">
              <a:lnSpc>
                <a:spcPct val="116000"/>
              </a:lnSpc>
              <a:buNone/>
              <a:defRPr sz="1650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硬约束违规：0</a:t>
            </a:r>
            <a:endParaRPr sz="1800"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6152" y="448664"/>
            <a:ext cx="11049000" cy="553289"/>
          </a:xfrm>
        </p:spPr>
        <p:txBody>
          <a:bodyPr>
            <a:normAutofit/>
          </a:bodyPr>
          <a:lstStyle/>
          <a:p>
            <a:pPr>
              <a:def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当前问题与下一步研究</a:t>
            </a:r>
            <a:endParaRPr b="0"/>
          </a:p>
        </p:txBody>
      </p:sp>
      <p:pic>
        <p:nvPicPr>
          <p:cNvPr id="12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7235" y="0"/>
            <a:ext cx="783590" cy="748665"/>
          </a:xfrm>
          <a:prstGeom prst="rect">
            <a:avLst/>
          </a:prstGeom>
        </p:spPr>
      </p:pic>
      <p:pic>
        <p:nvPicPr>
          <p:cNvPr id="13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2610" y="7620"/>
            <a:ext cx="1007745" cy="993775"/>
          </a:xfrm>
          <a:prstGeom prst="rect">
            <a:avLst/>
          </a:prstGeom>
        </p:spPr>
      </p:pic>
      <p:sp>
        <p:nvSpPr>
          <p:cNvPr id="8" name="文本框 7"/>
          <p:cNvSpPr>
            <a:spLocks noGrp="1"/>
          </p:cNvSpPr>
          <p:nvPr/>
        </p:nvSpPr>
        <p:spPr>
          <a:xfrm>
            <a:off x="934720" y="1341120"/>
            <a:ext cx="9572625" cy="501523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阶段成果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已完成可公网访问的对话式推荐闭环：意图理解、多轮状态、商品筛选、融合排序、商品解释与 SafetyGuard。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Font typeface="Wingdings" panose="05000000000000000000"/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关键问题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图片与颜色/品类变体仍可能不一致，部分图片链接失效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库存、季节、尺码与较多价格属于演示字段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r>
              <a:rPr sz="2000">
                <a:solidFill>
                  <a:srgbClr val="292929"/>
                </a:solidFill>
                <a:latin typeface="微软雅黑"/>
                <a:ea typeface="微软雅黑"/>
                <a:cs typeface="微软雅黑"/>
              </a:rPr>
              <a:t>• 35/65融合权重尚未经过人工相关性评测校准</a:t>
            </a: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Font typeface="Wingdings" panose="05000000000000000000"/>
              <a:buNone/>
            </a:pPr>
            <a:endParaRPr sz="2000">
              <a:latin typeface="微软雅黑"/>
              <a:ea typeface="微软雅黑"/>
              <a:cs typeface="微软雅黑"/>
            </a:endParaRPr>
          </a:p>
          <a:p>
            <a:pPr marL="0" indent="457200">
              <a:lnSpc>
                <a:spcPct val="116000"/>
              </a:lnSpc>
              <a:spcBef>
                <a:spcPts val="0"/>
              </a:spcBef>
              <a:buFont typeface="Wingdings" panose="05000000000000000000"/>
              <a:buNone/>
              <a:defRPr sz="1575">
                <a:solidFill>
                  <a:srgbClr val="292929"/>
                </a:solidFill>
                <a:latin typeface="微软雅黑"/>
                <a:ea typeface="微软雅黑"/>
                <a:cs typeface="微软雅黑"/>
              </a:defRPr>
            </a:pPr>
            <a:endParaRPr sz="20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156" name="文本框 3"/>
          <p:cNvSpPr>
            <a:spLocks noGrp="1"/>
          </p:cNvSpPr>
          <p:nvPr/>
        </p:nvSpPr>
        <p:spPr>
          <a:xfrm>
            <a:off x="6708808" y="2576718"/>
            <a:ext cx="4927669" cy="2286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algn="ctr">
              <a:defRPr sz="34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9D2235"/>
                </a:solidFill>
                <a:latin typeface="微软雅黑"/>
                <a:ea typeface="微软雅黑"/>
                <a:cs typeface="微软雅黑"/>
              </a:rPr>
              <a:t>请老师批评指正</a:t>
            </a:r>
            <a:endParaRPr sz="7200" b="1">
              <a:solidFill>
                <a:srgbClr val="99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53135" y="2077188"/>
            <a:ext cx="4590415" cy="28346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rmAutofit/>
          </a:bodyPr>
          <a:lstStyle/>
          <a:p>
            <a:pPr algn="ctr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 for</a:t>
            </a:r>
            <a:endParaRPr sz="6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algn="ctr">
              <a:buNone/>
              <a:defRPr sz="36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listening!</a:t>
            </a:r>
            <a:endParaRPr sz="60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buNone/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2803</Words>
  <Application>WPS 表格</Application>
  <PresentationFormat>Converted Presentation</PresentationFormat>
  <Paragraphs>211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汉仪旗黑</vt:lpstr>
      <vt:lpstr>Arial</vt:lpstr>
      <vt:lpstr>Broadway</vt:lpstr>
      <vt:lpstr>Thonburi</vt:lpstr>
      <vt:lpstr>微软雅黑</vt:lpstr>
      <vt:lpstr>黑体</vt:lpstr>
      <vt:lpstr>Aptos</vt:lpstr>
      <vt:lpstr>楷体</vt:lpstr>
      <vt:lpstr>宋体</vt:lpstr>
      <vt:lpstr>Wingdings</vt:lpstr>
      <vt:lpstr>Calibri</vt:lpstr>
      <vt:lpstr>Helvetica Neue</vt:lpstr>
      <vt:lpstr>汉仪中黑KW</vt:lpstr>
      <vt:lpstr>微软雅黑</vt:lpstr>
      <vt:lpstr>宋体</vt:lpstr>
      <vt:lpstr>Arial Unicode MS</vt:lpstr>
      <vt:lpstr>汉仪书宋二KW</vt:lpstr>
      <vt:lpstr>汉仪楷体KW</vt:lpstr>
      <vt:lpstr>Aptos</vt:lpstr>
      <vt:lpstr>Wingdings</vt:lpstr>
      <vt:lpstr>微软雅黑</vt:lpstr>
      <vt:lpstr>楷体</vt:lpstr>
      <vt:lpstr>黑体</vt:lpstr>
      <vt:lpstr>Broadway</vt:lpstr>
      <vt:lpstr>Calibri</vt:lpstr>
      <vt:lpstr>苹方-简</vt:lpstr>
      <vt:lpstr>Office 主题</vt:lpstr>
      <vt:lpstr>1_Office 主题</vt:lpstr>
      <vt:lpstr>PowerPoint 演示文稿</vt:lpstr>
      <vt:lpstr>项目背景：为什么需要对话式服装导购</vt:lpstr>
      <vt:lpstr>研究问题与项目目标</vt:lpstr>
      <vt:lpstr>功能需求与系统边界</vt:lpstr>
      <vt:lpstr>PowerPoint 演示文稿</vt:lpstr>
      <vt:lpstr>商品数据构建过程</vt:lpstr>
      <vt:lpstr>数据真实性与质量边界</vt:lpstr>
      <vt:lpstr>多轮对话：条件如何持续更新</vt:lpstr>
      <vt:lpstr>商品检索与融合排序</vt:lpstr>
      <vt:lpstr>推荐解释与 SafetyGuard</vt:lpstr>
      <vt:lpstr>真实系统交互示例</vt:lpstr>
      <vt:lpstr>PowerPoint 演示文稿</vt:lpstr>
      <vt:lpstr>测试结果与评测边界</vt:lpstr>
      <vt:lpstr>当前问题与下一步研究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WPS_1602418718</cp:lastModifiedBy>
  <cp:revision>4</cp:revision>
  <dcterms:created xsi:type="dcterms:W3CDTF">2026-08-25T02:41:56Z</dcterms:created>
  <dcterms:modified xsi:type="dcterms:W3CDTF">2026-08-25T02:41:56Z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F4C68E1F29CCC58DA6008D6AE8AE3F6C_42</vt:lpwstr>
  </property>
  <property fmtid="{D5CDD505-2E9C-101B-9397-08002B2CF9AE}" pid="3" name="KSOProductBuildVer">
    <vt:lpwstr>2052-12.1.25895.25895</vt:lpwstr>
  </property>
</Properties>
</file>