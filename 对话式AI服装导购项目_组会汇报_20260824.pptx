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/Users/hanhan/Documents/7.25组会 韩含.pptx</a:t>
            </a:r>
          </a:p>
          <a:p>
            <a:r>
              <a:t>- /Users/hanhan/yifu daogou/服装导购智能体纯文本评测台_DEMO版完整技术开发文档.docx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daogou/服装导购智能体纯文本评测台_DEMO版完整技术开发文档.docx</a:t>
            </a:r>
          </a:p>
          <a:p>
            <a:r>
              <a:t>- /Users/hanhan/yifu daogou/智能体对话式试衣推荐顾问_专项技术方案.docx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daogou/backend/app.py</a:t>
            </a:r>
          </a:p>
          <a:p>
            <a:r>
              <a:t>- /Users/hanhan/yifu daogou/data/reports/fashion200k_strict_quality_audit_v3.json</a:t>
            </a:r>
          </a:p>
          <a:p>
            <a:r>
              <a:t>- https://43.159.138.39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daogou/backend/app.py</a:t>
            </a:r>
          </a:p>
          <a:p>
            <a:r>
              <a:t>- /Users/hanhan/yifu daogou/backend/recommender.py</a:t>
            </a:r>
          </a:p>
          <a:p>
            <a:r>
              <a:t>- /Users/hanhan/yifu daogou/backend/style_matcher.py</a:t>
            </a:r>
          </a:p>
          <a:p>
            <a:r>
              <a:t>- /Users/hanhan/yifu daogou/backend/safety_guard.py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daogou/data/reports/fashion200k_strict_quality_audit_v3.json</a:t>
            </a:r>
          </a:p>
          <a:p>
            <a:r>
              <a:t>- /Users/hanhan/yifu daogou/服装导购智能体纯文本评测台_DEMO版完整技术开发文档.docx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daogou/backend/app.py</a:t>
            </a:r>
          </a:p>
          <a:p>
            <a:r>
              <a:t>- /Users/hanhan/yifu daogou/服装导购智能体纯文本评测台_DEMO版完整技术开发文档.docx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daogou/backend/recommender.py</a:t>
            </a:r>
          </a:p>
          <a:p>
            <a:r>
              <a:t>- /Users/hanhan/yifu daogou/backend/style_matcher.py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daogou/backend/safety_guard.py</a:t>
            </a:r>
          </a:p>
          <a:p>
            <a:r>
              <a:t>- /Users/hanhan/yifu daogou/backend/app.py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daogou/backend/app.py</a:t>
            </a:r>
          </a:p>
          <a:p>
            <a:r>
              <a:t>- https://43.159.138.39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daogou/data/reports/evaluation_draft_report.json</a:t>
            </a:r>
          </a:p>
          <a:p>
            <a:r>
              <a:t>- /Users/hanhan/yifu daogou/data/reports/fashion200k_strict_quality_audit_v3.json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>[Sources]</a:t>
            </a:r>
            <a:endParaRPr>
              <a:solidFill>
                <a:srgbClr val="C00000"/>
              </a:solidFill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>- /Users/hanhan/yifu daogou/data/reports/evaluation_draft_report.json</a:t>
            </a:r>
            <a:endParaRPr>
              <a:solidFill>
                <a:srgbClr val="C00000"/>
              </a:solidFill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>- /Users/hanhan/yifu daogou/服装导购智能体纯文本评测台_DEMO版完整技术开发文档.docx</a:t>
            </a:r>
            <a:endParaRPr>
              <a:solidFill>
                <a:srgbClr val="C00000"/>
              </a:solidFill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>[/Sources]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[Sources]</a:t>
            </a:r>
          </a:p>
          <a:p>
            <a:pPr>
              <a:spcBef>
                <a:spcPct val="0"/>
              </a:spcBef>
              <a:buNone/>
            </a:pPr>
            <a:r>
              <a:t>- /Users/hanhan/yifu daogou/服装导购智能体纯文本评测台_DEMO版完整技术开发文档.docx</a:t>
            </a:r>
          </a:p>
          <a:p>
            <a:pPr>
              <a:spcBef>
                <a:spcPct val="0"/>
              </a:spcBef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90204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685800" indent="-228600">
              <a:buFont typeface="Arial" panose="020B0604020202090204"/>
              <a:buChar char="‒"/>
              <a:defRPr>
                <a:latin typeface="+mn-ea"/>
                <a:ea typeface="+mn-ea"/>
                <a:cs typeface="+mn-ea"/>
              </a:defRPr>
            </a:lvl2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9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0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1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4971"/>
            <a:ext cx="5181600" cy="4681992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480457"/>
            <a:ext cx="5181600" cy="4696506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1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2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6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451429"/>
            <a:ext cx="5157787" cy="7982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235200"/>
            <a:ext cx="5157787" cy="3954463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422400"/>
            <a:ext cx="5183188" cy="78377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206171"/>
            <a:ext cx="5183188" cy="3983492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12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3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4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8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/>
      <p:sp>
        <p:nvSpPr>
          <p:cNvPr id="7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8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9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3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/>
      <p:sp>
        <p:nvSpPr>
          <p:cNvPr id="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81760" y="0"/>
            <a:ext cx="993775" cy="2708275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5207000"/>
            <a:ext cx="12192000" cy="4445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085465" y="1000125"/>
            <a:ext cx="9774555" cy="708660"/>
          </a:xfrm>
          <a:prstGeom prst="rect">
            <a:avLst/>
          </a:prstGeom>
        </p:spPr>
        <p:txBody>
          <a:bodyPr anchor="ctr"/>
          <a:lstStyle>
            <a:lvl1pPr>
              <a:buNone/>
              <a:defRPr sz="44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>
          <a:xfrm>
            <a:off x="1467714" y="1708785"/>
            <a:ext cx="2073910" cy="857250"/>
          </a:xfrm>
        </p:spPr>
        <p:txBody>
          <a:bodyPr/>
          <a:lstStyle>
            <a:lvl1pPr marL="0" marR="0" indent="0" algn="l">
              <a:lnSpc>
                <a:spcPct val="100000"/>
              </a:lnSpc>
              <a:spcBef>
                <a:spcPts val="1000"/>
              </a:spcBef>
              <a:buNone/>
              <a:defRPr sz="4800" b="0" i="0" u="none" kern="1200" cap="none" spc="0" baseline="0">
                <a:solidFill>
                  <a:schemeClr val="bg1"/>
                </a:solidFill>
                <a:latin typeface="Broadway"/>
                <a:ea typeface="Broadway"/>
                <a:cs typeface="Broadway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/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9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0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4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90204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685800" indent="-228600">
              <a:buFont typeface="Arial" panose="020B0604020202090204"/>
              <a:buChar char="‒"/>
              <a:defRPr>
                <a:latin typeface="+mn-ea"/>
                <a:ea typeface="+mn-ea"/>
                <a:cs typeface="+mn-ea"/>
              </a:defRPr>
            </a:lvl2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9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0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1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4971"/>
            <a:ext cx="5181600" cy="4681992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480457"/>
            <a:ext cx="5181600" cy="4696506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1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2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6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451429"/>
            <a:ext cx="5157787" cy="7982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235200"/>
            <a:ext cx="5157787" cy="3954463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422400"/>
            <a:ext cx="5183188" cy="78377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206171"/>
            <a:ext cx="5183188" cy="3983492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12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3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4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8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/>
      <p:sp>
        <p:nvSpPr>
          <p:cNvPr id="7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8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9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3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/>
      <p:sp>
        <p:nvSpPr>
          <p:cNvPr id="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81760" y="0"/>
            <a:ext cx="993775" cy="2708275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5207000"/>
            <a:ext cx="12192000" cy="4445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085465" y="1000125"/>
            <a:ext cx="9774555" cy="708660"/>
          </a:xfrm>
          <a:prstGeom prst="rect">
            <a:avLst/>
          </a:prstGeom>
        </p:spPr>
        <p:txBody>
          <a:bodyPr anchor="ctr"/>
          <a:lstStyle>
            <a:lvl1pPr>
              <a:buNone/>
              <a:defRPr sz="44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>
          <a:xfrm>
            <a:off x="1467714" y="1708785"/>
            <a:ext cx="2073910" cy="857250"/>
          </a:xfrm>
        </p:spPr>
        <p:txBody>
          <a:bodyPr/>
          <a:lstStyle>
            <a:lvl1pPr marL="0" marR="0" indent="0" algn="l">
              <a:lnSpc>
                <a:spcPct val="100000"/>
              </a:lnSpc>
              <a:spcBef>
                <a:spcPts val="1000"/>
              </a:spcBef>
              <a:buNone/>
              <a:defRPr sz="4800" b="0" i="0" u="none" kern="1200" cap="none" spc="0" baseline="0">
                <a:solidFill>
                  <a:schemeClr val="bg1"/>
                </a:solidFill>
                <a:latin typeface="Broadway"/>
                <a:ea typeface="Broadway"/>
                <a:cs typeface="Broadway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/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9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0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4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838200" y="1481138"/>
            <a:ext cx="10515600" cy="46958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>
        <a:lnSpc>
          <a:spcPct val="90000"/>
        </a:lnSpc>
        <a:spcBef>
          <a:spcPct val="0"/>
        </a:spcBef>
        <a:spcAft>
          <a:spcPct val="0"/>
        </a:spcAft>
        <a:buNone/>
        <a:defRPr sz="32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2pPr>
      <a:lvl3pPr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3pPr>
      <a:lvl4pPr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4pPr>
      <a:lvl5pPr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5pPr>
      <a:lvl6pPr marL="457200"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6pPr>
      <a:lvl7pPr marL="914400"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7pPr>
      <a:lvl8pPr marL="1371600"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8pPr>
      <a:lvl9pPr marL="1828800"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9pPr>
    </p:titleStyle>
    <p:bodyStyle>
      <a:lvl1pPr marL="228600" indent="-228600" algn="l">
        <a:lnSpc>
          <a:spcPct val="90000"/>
        </a:lnSpc>
        <a:spcBef>
          <a:spcPts val="1000"/>
        </a:spcBef>
        <a:spcAft>
          <a:spcPct val="0"/>
        </a:spcAft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838200" y="1481138"/>
            <a:ext cx="10515600" cy="46958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dt="0"/>
  <p:txStyles>
    <p:titleStyle>
      <a:lvl1pPr algn="l">
        <a:lnSpc>
          <a:spcPct val="90000"/>
        </a:lnSpc>
        <a:spcBef>
          <a:spcPct val="0"/>
        </a:spcBef>
        <a:spcAft>
          <a:spcPct val="0"/>
        </a:spcAft>
        <a:buNone/>
        <a:defRPr sz="32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2pPr>
      <a:lvl3pPr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3pPr>
      <a:lvl4pPr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4pPr>
      <a:lvl5pPr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5pPr>
      <a:lvl6pPr marL="457200"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6pPr>
      <a:lvl7pPr marL="914400"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7pPr>
      <a:lvl8pPr marL="1371600"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8pPr>
      <a:lvl9pPr marL="1828800"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9pPr>
    </p:titleStyle>
    <p:bodyStyle>
      <a:lvl1pPr marL="228600" indent="-228600" algn="l">
        <a:lnSpc>
          <a:spcPct val="90000"/>
        </a:lnSpc>
        <a:spcBef>
          <a:spcPts val="1000"/>
        </a:spcBef>
        <a:spcAft>
          <a:spcPct val="0"/>
        </a:spcAft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20713" y="782638"/>
            <a:ext cx="508000" cy="508000"/>
          </a:xfrm>
          <a:prstGeom prst="rect">
            <a:avLst/>
          </a:prstGeom>
          <a:solidFill>
            <a:srgbClr val="A50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1679768"/>
            <a:ext cx="6084888" cy="33686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00750" y="2501900"/>
            <a:ext cx="6191250" cy="1946275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l">
              <a:lnSpc>
                <a:spcPct val="102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对话式 AI 服装导购项目</a:t>
            </a:r>
            <a:endParaRPr sz="2400" b="0" i="0" u="none" baseline="0">
              <a:latin typeface="黑体"/>
              <a:ea typeface="黑体"/>
              <a:cs typeface="黑体"/>
            </a:endParaRPr>
          </a:p>
          <a:p>
            <a:pPr algn="l">
              <a:lnSpc>
                <a:spcPct val="102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需求理解、可信推荐与云端部署</a:t>
            </a:r>
            <a:endParaRPr sz="2400" b="0" i="0" u="none" baseline="0">
              <a:latin typeface="黑体"/>
              <a:ea typeface="黑体"/>
              <a:cs typeface="黑体"/>
            </a:endParaRPr>
          </a:p>
        </p:txBody>
      </p:sp>
      <p:sp>
        <p:nvSpPr>
          <p:cNvPr id="9222" name="文本框 10"/>
          <p:cNvSpPr>
            <a:spLocks noGrp="1"/>
          </p:cNvSpPr>
          <p:nvPr/>
        </p:nvSpPr>
        <p:spPr>
          <a:xfrm>
            <a:off x="6492920" y="4793417"/>
            <a:ext cx="569908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187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汇报人：韩含</a:t>
            </a:r>
            <a:endParaRPr sz="2000" b="1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28713" y="1036638"/>
            <a:ext cx="254000" cy="25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170363" y="2503488"/>
            <a:ext cx="1925637" cy="1941512"/>
          </a:xfrm>
          <a:prstGeom prst="rect">
            <a:avLst/>
          </a:prstGeom>
          <a:solidFill>
            <a:srgbClr val="6C0000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231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633011" y="380984"/>
            <a:ext cx="3221035" cy="1288413"/>
          </a:xfrm>
          <a:prstGeom prst="rect">
            <a:avLst/>
          </a:prstGeom>
        </p:spPr>
      </p:pic>
      <p:pic>
        <p:nvPicPr>
          <p:cNvPr id="9232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625" y="2502093"/>
            <a:ext cx="4122738" cy="2546350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1</a:t>
            </a:r>
          </a:p>
        </p:txBody>
      </p:sp>
      <p:sp>
        <p:nvSpPr>
          <p:cNvPr id="3" name="文本框 10"/>
          <p:cNvSpPr>
            <a:spLocks noGrp="1"/>
          </p:cNvSpPr>
          <p:nvPr/>
        </p:nvSpPr>
        <p:spPr>
          <a:xfrm>
            <a:off x="6562770" y="5473502"/>
            <a:ext cx="569908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172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时间：2026.08.24</a:t>
            </a:r>
            <a:endParaRPr sz="2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367602" y="448664"/>
            <a:ext cx="11049000" cy="553289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项目背景：为什么需要对话式服装导购</a:t>
            </a:r>
            <a:endParaRPr b="0"/>
          </a:p>
        </p:txBody>
      </p:sp>
      <p:pic>
        <p:nvPicPr>
          <p:cNvPr id="13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279" y="8178"/>
            <a:ext cx="1007745" cy="993775"/>
          </a:xfrm>
          <a:prstGeom prst="rect">
            <a:avLst/>
          </a:prstGeom>
        </p:spPr>
      </p:pic>
      <p:sp>
        <p:nvSpPr>
          <p:cNvPr id="9" name="页脚占位符 8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2</a:t>
            </a:r>
          </a:p>
        </p:txBody>
      </p:sp>
      <p:pic>
        <p:nvPicPr>
          <p:cNvPr id="15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125" y="1853565"/>
            <a:ext cx="1905000" cy="1905000"/>
          </a:xfrm>
          <a:prstGeom prst="rect">
            <a:avLst/>
          </a:prstGeom>
        </p:spPr>
      </p:pic>
      <p:sp>
        <p:nvSpPr>
          <p:cNvPr id="3" name="文本框 2"/>
          <p:cNvSpPr>
            <a:spLocks noGrp="1"/>
          </p:cNvSpPr>
          <p:nvPr/>
        </p:nvSpPr>
        <p:spPr>
          <a:xfrm>
            <a:off x="1249680" y="1438275"/>
            <a:ext cx="7334250" cy="4762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传统商品搜索依赖关键词和筛选器，但用户往往用自然语言表达综合需求：</a:t>
            </a:r>
            <a:endParaRPr sz="1725"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“想要一件适合春天、温柔风、浅色、300元以内的裙子。”</a:t>
            </a:r>
            <a:endParaRPr sz="1725"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  <a:p/>
          <a:p>
            <a:pPr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现有方式的不足：</a:t>
            </a:r>
            <a:endParaRPr sz="1725"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难以理解“温柔风、通勤、正式”等模糊偏好</a:t>
            </a:r>
            <a:endParaRPr sz="1725"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用户需要反复手动组合品类、颜色、尺码和预算</a:t>
            </a:r>
            <a:endParaRPr sz="1725"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商品字段缺失、图片失效及颜色变体错配会影响推荐可信度</a:t>
            </a:r>
            <a:endParaRPr sz="1725"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  <a:p/>
          <a:p>
            <a:pPr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项目切入点：让系统理解用户真正想要什么，并通过多轮对话持续修正条件。</a:t>
            </a:r>
            <a:endParaRPr sz="1725"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367602" y="448664"/>
            <a:ext cx="11049000" cy="553289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研究问题与项目目标</a:t>
            </a:r>
            <a:endParaRPr b="0"/>
          </a:p>
        </p:txBody>
      </p:sp>
      <p:pic>
        <p:nvPicPr>
          <p:cNvPr id="13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279" y="8178"/>
            <a:ext cx="1007745" cy="993775"/>
          </a:xfrm>
          <a:prstGeom prst="rect">
            <a:avLst/>
          </a:prstGeom>
        </p:spPr>
      </p:pic>
      <p:sp>
        <p:nvSpPr>
          <p:cNvPr id="9" name="页脚占位符 8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3</a:t>
            </a: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367030" y="1574800"/>
            <a:ext cx="9048750" cy="452310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核心研究问题</a:t>
            </a:r>
            <a:endParaRPr sz="180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如何把自然语言转换为可执行、可更新的商品筛选条件？</a:t>
            </a:r>
            <a:endParaRPr sz="1800"/>
          </a:p>
          <a:p>
            <a:pPr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如何同时满足品类、颜色、尺码、预算等硬约束和风格等软偏好？</a:t>
            </a:r>
            <a:endParaRPr sz="1800"/>
          </a:p>
          <a:p>
            <a:pPr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如何在多轮对话中理解“换一件”“第2件多少钱”等上下文指代？</a:t>
            </a:r>
            <a:endParaRPr sz="1800"/>
          </a:p>
          <a:p>
            <a:pPr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如何避免推荐理由编造价格、材质、尺码和库存？</a:t>
            </a:r>
            <a:endParaRPr sz="1800"/>
          </a:p>
          <a:p>
            <a:endParaRPr sz="1800"/>
          </a:p>
          <a:p>
            <a:pPr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项目目标</a:t>
            </a:r>
            <a:endParaRPr sz="1800"/>
          </a:p>
          <a:p>
            <a:pPr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构建“意图理解 → 商品筛选 → 融合排序 → 推荐解释 → 安全检查”的完整闭环，并形成可公开访问、可持续评测的演示系统。</a:t>
            </a:r>
            <a:endParaRPr sz="1800"/>
          </a:p>
        </p:txBody>
      </p:sp>
      <p:pic>
        <p:nvPicPr>
          <p:cNvPr id="16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120" y="1680210"/>
            <a:ext cx="2359660" cy="2359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0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279" y="8178"/>
            <a:ext cx="1007745" cy="993775"/>
          </a:xfrm>
          <a:prstGeom prst="rect">
            <a:avLst/>
          </a:prstGeom>
        </p:spPr>
      </p:pic>
      <p:sp>
        <p:nvSpPr>
          <p:cNvPr id="9" name="title 3"/>
          <p:cNvSpPr>
            <a:spLocks noGrp="1"/>
          </p:cNvSpPr>
          <p:nvPr/>
        </p:nvSpPr>
        <p:spPr>
          <a:xfrm>
            <a:off x="509873" y="55245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  <a:defRPr sz="240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技术架构：从一句需求到可信推荐</a:t>
            </a:r>
            <a:endParaRPr sz="1600" b="1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9" name="architecture-example"/>
          <p:cNvSpPr>
            <a:spLocks noGrp="1"/>
          </p:cNvSpPr>
          <p:nvPr/>
        </p:nvSpPr>
        <p:spPr>
          <a:xfrm>
            <a:off x="1143000" y="1190625"/>
            <a:ext cx="9906000" cy="438150"/>
          </a:xfrm>
          <a:prstGeom prst="roundRect">
            <a:avLst>
              <a:gd name="adj" fmla="val 30435"/>
            </a:avLst>
          </a:prstGeom>
          <a:solidFill>
            <a:srgbClr val="F7E9EC"/>
          </a:solidFill>
          <a:ln w="11430">
            <a:solidFill>
              <a:srgbClr val="D6A1AB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500" b="1">
                <a:solidFill>
                  <a:srgbClr val="7E1D2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E1D2E"/>
                </a:solidFill>
                <a:latin typeface="微软雅黑"/>
                <a:ea typeface="微软雅黑"/>
                <a:cs typeface="微软雅黑"/>
              </a:rPr>
              <a:t>典型输入：“想要一件适合春天、温柔风、浅色、300元以内的裙子”</a:t>
            </a:r>
            <a:endParaRPr sz="1500" b="1">
              <a:solidFill>
                <a:srgbClr val="7E1D2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0" name="architecture-stage-01"/>
          <p:cNvSpPr>
            <a:spLocks noGrp="1"/>
          </p:cNvSpPr>
          <p:nvPr/>
        </p:nvSpPr>
        <p:spPr>
          <a:xfrm>
            <a:off x="447675" y="1952625"/>
            <a:ext cx="1381125" cy="1066800"/>
          </a:xfrm>
          <a:prstGeom prst="roundRect">
            <a:avLst>
              <a:gd name="adj" fmla="val 12500"/>
            </a:avLst>
          </a:prstGeom>
          <a:solidFill>
            <a:srgbClr val="FFF7F8"/>
          </a:solidFill>
          <a:ln w="12383">
            <a:solidFill>
              <a:srgbClr val="D6A1AB"/>
            </a:solidFill>
            <a:prstDash val="solid"/>
          </a:ln>
        </p:spPr>
        <p:txBody>
          <a:bodyPr lIns="57150" tIns="76200" rIns="57150" bIns="76200" anchor="ctr">
            <a:normAutofit/>
          </a:bodyPr>
          <a:lstStyle/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用户输入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自然语言需求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1" name="architecture-arrow-1"/>
          <p:cNvSpPr>
            <a:spLocks noGrp="1"/>
          </p:cNvSpPr>
          <p:nvPr/>
        </p:nvSpPr>
        <p:spPr>
          <a:xfrm>
            <a:off x="1866900" y="2362200"/>
            <a:ext cx="200025" cy="247650"/>
          </a:xfrm>
          <a:prstGeom prst="rightArrow">
            <a:avLst/>
          </a:prstGeom>
          <a:solidFill>
            <a:srgbClr val="B40019"/>
          </a:solidFill>
          <a:ln w="0">
            <a:solidFill>
              <a:srgbClr val="B40019"/>
            </a:solidFill>
            <a:prstDash val="solid"/>
          </a:ln>
        </p:spPr>
        <p:txBody>
          <a:bodyPr/>
          <a:lstStyle/>
          <a:p/>
        </p:txBody>
      </p:sp>
      <p:sp>
        <p:nvSpPr>
          <p:cNvPr id="142" name="architecture-stage-02"/>
          <p:cNvSpPr>
            <a:spLocks noGrp="1"/>
          </p:cNvSpPr>
          <p:nvPr/>
        </p:nvSpPr>
        <p:spPr>
          <a:xfrm>
            <a:off x="2105025" y="1952625"/>
            <a:ext cx="1381125" cy="1066800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12383">
            <a:solidFill>
              <a:srgbClr val="D6A1AB"/>
            </a:solidFill>
            <a:prstDash val="solid"/>
          </a:ln>
        </p:spPr>
        <p:txBody>
          <a:bodyPr lIns="57150" tIns="76200" rIns="57150" bIns="76200" anchor="ctr">
            <a:normAutofit/>
          </a:bodyPr>
          <a:lstStyle/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意图理解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intent + slots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3" name="architecture-arrow-2"/>
          <p:cNvSpPr>
            <a:spLocks noGrp="1"/>
          </p:cNvSpPr>
          <p:nvPr/>
        </p:nvSpPr>
        <p:spPr>
          <a:xfrm>
            <a:off x="3524250" y="2362200"/>
            <a:ext cx="200025" cy="247650"/>
          </a:xfrm>
          <a:prstGeom prst="rightArrow">
            <a:avLst/>
          </a:prstGeom>
          <a:solidFill>
            <a:srgbClr val="B40019"/>
          </a:solidFill>
          <a:ln w="0">
            <a:solidFill>
              <a:srgbClr val="B40019"/>
            </a:solidFill>
            <a:prstDash val="solid"/>
          </a:ln>
        </p:spPr>
        <p:txBody>
          <a:bodyPr/>
          <a:lstStyle/>
          <a:p/>
        </p:txBody>
      </p:sp>
      <p:sp>
        <p:nvSpPr>
          <p:cNvPr id="144" name="architecture-stage-03"/>
          <p:cNvSpPr>
            <a:spLocks noGrp="1"/>
          </p:cNvSpPr>
          <p:nvPr/>
        </p:nvSpPr>
        <p:spPr>
          <a:xfrm>
            <a:off x="3762375" y="1952625"/>
            <a:ext cx="1381125" cy="1066800"/>
          </a:xfrm>
          <a:prstGeom prst="roundRect">
            <a:avLst>
              <a:gd name="adj" fmla="val 12500"/>
            </a:avLst>
          </a:prstGeom>
          <a:solidFill>
            <a:srgbClr val="FFF7F8"/>
          </a:solidFill>
          <a:ln w="12383">
            <a:solidFill>
              <a:srgbClr val="D6A1AB"/>
            </a:solidFill>
            <a:prstDash val="solid"/>
          </a:ln>
        </p:spPr>
        <p:txBody>
          <a:bodyPr lIns="57150" tIns="76200" rIns="57150" bIns="76200" anchor="ctr">
            <a:normAutofit/>
          </a:bodyPr>
          <a:lstStyle/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会话状态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多轮条件更新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5" name="architecture-arrow-3"/>
          <p:cNvSpPr>
            <a:spLocks noGrp="1"/>
          </p:cNvSpPr>
          <p:nvPr/>
        </p:nvSpPr>
        <p:spPr>
          <a:xfrm>
            <a:off x="5181600" y="2362200"/>
            <a:ext cx="200025" cy="247650"/>
          </a:xfrm>
          <a:prstGeom prst="rightArrow">
            <a:avLst/>
          </a:prstGeom>
          <a:solidFill>
            <a:srgbClr val="B40019"/>
          </a:solidFill>
          <a:ln w="0">
            <a:solidFill>
              <a:srgbClr val="B40019"/>
            </a:solidFill>
            <a:prstDash val="solid"/>
          </a:ln>
        </p:spPr>
        <p:txBody>
          <a:bodyPr/>
          <a:lstStyle/>
          <a:p/>
        </p:txBody>
      </p:sp>
      <p:sp>
        <p:nvSpPr>
          <p:cNvPr id="146" name="architecture-stage-04"/>
          <p:cNvSpPr>
            <a:spLocks noGrp="1"/>
          </p:cNvSpPr>
          <p:nvPr/>
        </p:nvSpPr>
        <p:spPr>
          <a:xfrm>
            <a:off x="5419725" y="1952625"/>
            <a:ext cx="1381125" cy="1066800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12383">
            <a:solidFill>
              <a:srgbClr val="D6A1AB"/>
            </a:solidFill>
            <a:prstDash val="solid"/>
          </a:ln>
        </p:spPr>
        <p:txBody>
          <a:bodyPr lIns="57150" tIns="76200" rIns="57150" bIns="76200" anchor="ctr">
            <a:normAutofit/>
          </a:bodyPr>
          <a:lstStyle/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商品筛选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硬约束过滤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7" name="architecture-arrow-4"/>
          <p:cNvSpPr>
            <a:spLocks noGrp="1"/>
          </p:cNvSpPr>
          <p:nvPr/>
        </p:nvSpPr>
        <p:spPr>
          <a:xfrm>
            <a:off x="6838950" y="2362200"/>
            <a:ext cx="200025" cy="247650"/>
          </a:xfrm>
          <a:prstGeom prst="rightArrow">
            <a:avLst/>
          </a:prstGeom>
          <a:solidFill>
            <a:srgbClr val="B40019"/>
          </a:solidFill>
          <a:ln w="0">
            <a:solidFill>
              <a:srgbClr val="B40019"/>
            </a:solidFill>
            <a:prstDash val="solid"/>
          </a:ln>
        </p:spPr>
        <p:txBody>
          <a:bodyPr/>
          <a:lstStyle/>
          <a:p/>
        </p:txBody>
      </p:sp>
      <p:sp>
        <p:nvSpPr>
          <p:cNvPr id="148" name="architecture-stage-05"/>
          <p:cNvSpPr>
            <a:spLocks noGrp="1"/>
          </p:cNvSpPr>
          <p:nvPr/>
        </p:nvSpPr>
        <p:spPr>
          <a:xfrm>
            <a:off x="7077075" y="1952625"/>
            <a:ext cx="1381125" cy="1066800"/>
          </a:xfrm>
          <a:prstGeom prst="roundRect">
            <a:avLst>
              <a:gd name="adj" fmla="val 12500"/>
            </a:avLst>
          </a:prstGeom>
          <a:solidFill>
            <a:srgbClr val="FFF7F8"/>
          </a:solidFill>
          <a:ln w="12383">
            <a:solidFill>
              <a:srgbClr val="D6A1AB"/>
            </a:solidFill>
            <a:prstDash val="solid"/>
          </a:ln>
        </p:spPr>
        <p:txBody>
          <a:bodyPr lIns="57150" tIns="76200" rIns="57150" bIns="76200" anchor="ctr">
            <a:normAutofit/>
          </a:bodyPr>
          <a:lstStyle/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融合排序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语义35% + 规则65%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9" name="architecture-arrow-5"/>
          <p:cNvSpPr>
            <a:spLocks noGrp="1"/>
          </p:cNvSpPr>
          <p:nvPr/>
        </p:nvSpPr>
        <p:spPr>
          <a:xfrm>
            <a:off x="8496300" y="2362200"/>
            <a:ext cx="200025" cy="247650"/>
          </a:xfrm>
          <a:prstGeom prst="rightArrow">
            <a:avLst/>
          </a:prstGeom>
          <a:solidFill>
            <a:srgbClr val="B40019"/>
          </a:solidFill>
          <a:ln w="0">
            <a:solidFill>
              <a:srgbClr val="B40019"/>
            </a:solidFill>
            <a:prstDash val="solid"/>
          </a:ln>
        </p:spPr>
        <p:txBody>
          <a:bodyPr/>
          <a:lstStyle/>
          <a:p/>
        </p:txBody>
      </p:sp>
      <p:sp>
        <p:nvSpPr>
          <p:cNvPr id="150" name="architecture-stage-06"/>
          <p:cNvSpPr>
            <a:spLocks noGrp="1"/>
          </p:cNvSpPr>
          <p:nvPr/>
        </p:nvSpPr>
        <p:spPr>
          <a:xfrm>
            <a:off x="8734425" y="1952625"/>
            <a:ext cx="1381125" cy="1066800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12383">
            <a:solidFill>
              <a:srgbClr val="D6A1AB"/>
            </a:solidFill>
            <a:prstDash val="solid"/>
          </a:ln>
        </p:spPr>
        <p:txBody>
          <a:bodyPr lIns="57150" tIns="76200" rIns="57150" bIns="76200" anchor="ctr">
            <a:normAutofit/>
          </a:bodyPr>
          <a:lstStyle/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06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解释与安全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理由 + SafetyGuard</a:t>
            </a:r>
            <a:endParaRPr sz="1200" b="1">
              <a:solidFill>
                <a:srgbClr val="2B2B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1" name="architecture-arrow-6"/>
          <p:cNvSpPr>
            <a:spLocks noGrp="1"/>
          </p:cNvSpPr>
          <p:nvPr/>
        </p:nvSpPr>
        <p:spPr>
          <a:xfrm>
            <a:off x="10153650" y="2362200"/>
            <a:ext cx="200025" cy="247650"/>
          </a:xfrm>
          <a:prstGeom prst="rightArrow">
            <a:avLst/>
          </a:prstGeom>
          <a:solidFill>
            <a:srgbClr val="B40019"/>
          </a:solidFill>
          <a:ln w="0">
            <a:solidFill>
              <a:srgbClr val="B40019"/>
            </a:solidFill>
            <a:prstDash val="solid"/>
          </a:ln>
        </p:spPr>
        <p:txBody>
          <a:bodyPr/>
          <a:lstStyle/>
          <a:p/>
        </p:txBody>
      </p:sp>
      <p:sp>
        <p:nvSpPr>
          <p:cNvPr id="152" name="architecture-stage-07"/>
          <p:cNvSpPr>
            <a:spLocks noGrp="1"/>
          </p:cNvSpPr>
          <p:nvPr/>
        </p:nvSpPr>
        <p:spPr>
          <a:xfrm>
            <a:off x="10391775" y="1952625"/>
            <a:ext cx="1381125" cy="1066800"/>
          </a:xfrm>
          <a:prstGeom prst="roundRect">
            <a:avLst>
              <a:gd name="adj" fmla="val 12500"/>
            </a:avLst>
          </a:prstGeom>
          <a:solidFill>
            <a:srgbClr val="FFF2F4"/>
          </a:solidFill>
          <a:ln w="19050">
            <a:solidFill>
              <a:srgbClr val="B40019"/>
            </a:solidFill>
            <a:prstDash val="solid"/>
          </a:ln>
        </p:spPr>
        <p:txBody>
          <a:bodyPr lIns="57150" tIns="76200" rIns="57150" bIns="76200" anchor="ctr">
            <a:normAutofit/>
          </a:bodyPr>
          <a:lstStyle/>
          <a:p>
            <a:pPr algn="ctr">
              <a:defRPr sz="1200" b="1">
                <a:solidFill>
                  <a:srgbClr val="8E001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8E0017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1200" b="1">
              <a:solidFill>
                <a:srgbClr val="8E001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8E001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8E0017"/>
                </a:solidFill>
                <a:latin typeface="微软雅黑"/>
                <a:ea typeface="微软雅黑"/>
                <a:cs typeface="微软雅黑"/>
              </a:rPr>
              <a:t>推荐结果</a:t>
            </a:r>
            <a:endParaRPr sz="1200" b="1">
              <a:solidFill>
                <a:srgbClr val="8E0017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8E001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8E0017"/>
                </a:solidFill>
                <a:latin typeface="微软雅黑"/>
                <a:ea typeface="微软雅黑"/>
                <a:cs typeface="微软雅黑"/>
              </a:rPr>
              <a:t>Top-K 商品卡片</a:t>
            </a:r>
            <a:endParaRPr sz="1200" b="1">
              <a:solidFill>
                <a:srgbClr val="8E001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3" name="architecture-feedback"/>
          <p:cNvSpPr>
            <a:spLocks noGrp="1"/>
          </p:cNvSpPr>
          <p:nvPr/>
        </p:nvSpPr>
        <p:spPr>
          <a:xfrm>
            <a:off x="2238375" y="3257550"/>
            <a:ext cx="7715250" cy="400050"/>
          </a:xfrm>
          <a:prstGeom prst="leftArrow">
            <a:avLst/>
          </a:prstGeom>
          <a:solidFill>
            <a:srgbClr val="F7E9EC"/>
          </a:solidFill>
          <a:ln w="9525">
            <a:solidFill>
              <a:srgbClr val="C26072"/>
            </a:solidFill>
            <a:prstDash val="solid"/>
          </a:ln>
        </p:spPr>
        <p:txBody>
          <a:bodyPr lIns="266700" tIns="38100" rIns="266700" bIns="38100" anchor="ctr"/>
          <a:lstStyle/>
          <a:p>
            <a:pPr algn="ctr">
              <a:defRPr sz="1275" b="1">
                <a:solidFill>
                  <a:srgbClr val="7E1D2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7E1D2E"/>
                </a:solidFill>
                <a:latin typeface="微软雅黑"/>
                <a:ea typeface="微软雅黑"/>
                <a:cs typeface="微软雅黑"/>
              </a:rPr>
              <a:t>用户追问或修改条件：返回会话状态，继续下一轮推荐</a:t>
            </a:r>
            <a:endParaRPr sz="1275" b="1">
              <a:solidFill>
                <a:srgbClr val="7E1D2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4" name="architecture-data-layer"/>
          <p:cNvSpPr>
            <a:spLocks noGrp="1"/>
          </p:cNvSpPr>
          <p:nvPr/>
        </p:nvSpPr>
        <p:spPr>
          <a:xfrm>
            <a:off x="762000" y="4048125"/>
            <a:ext cx="10668000" cy="1666875"/>
          </a:xfrm>
          <a:prstGeom prst="roundRect">
            <a:avLst>
              <a:gd name="adj" fmla="val 8000"/>
            </a:avLst>
          </a:prstGeom>
          <a:noFill/>
          <a:ln w="11430">
            <a:solidFill>
              <a:srgbClr val="D8D8D8"/>
            </a:solidFill>
            <a:prstDash val="solid"/>
          </a:ln>
        </p:spPr>
        <p:txBody>
          <a:bodyPr/>
          <a:lstStyle/>
          <a:p/>
        </p:txBody>
      </p:sp>
      <p:sp>
        <p:nvSpPr>
          <p:cNvPr id="155" name="architecture-data-title"/>
          <p:cNvSpPr>
            <a:spLocks noGrp="1"/>
          </p:cNvSpPr>
          <p:nvPr/>
        </p:nvSpPr>
        <p:spPr>
          <a:xfrm>
            <a:off x="1000125" y="42100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defRPr sz="1575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数据与状态支撑层</a:t>
            </a:r>
            <a:endParaRPr sz="1575" b="1">
              <a:solidFill>
                <a:srgbClr val="9D22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6" name="architecture-support-1"/>
          <p:cNvSpPr>
            <a:spLocks noGrp="1"/>
          </p:cNvSpPr>
          <p:nvPr/>
        </p:nvSpPr>
        <p:spPr>
          <a:xfrm>
            <a:off x="1000125" y="4686300"/>
            <a:ext cx="2238375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9525">
            <a:solidFill>
              <a:srgbClr val="D3D7DC"/>
            </a:solidFill>
            <a:prstDash val="solid"/>
          </a:ln>
        </p:spPr>
        <p:txBody>
          <a:bodyPr lIns="57150" tIns="57150" rIns="57150" bIns="57150" anchor="ctr">
            <a:norm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商品数据库</a:t>
            </a:r>
            <a:endParaRPr sz="1200" b="1">
              <a:solidFill>
                <a:srgbClr val="333333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257,384 条商品记录</a:t>
            </a:r>
            <a:endParaRPr sz="1200" b="1">
              <a:solidFill>
                <a:srgbClr val="3333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7" name="architecture-support-2"/>
          <p:cNvSpPr>
            <a:spLocks noGrp="1"/>
          </p:cNvSpPr>
          <p:nvPr/>
        </p:nvSpPr>
        <p:spPr>
          <a:xfrm>
            <a:off x="3571875" y="4686300"/>
            <a:ext cx="2238375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9525">
            <a:solidFill>
              <a:srgbClr val="D3D7DC"/>
            </a:solidFill>
            <a:prstDash val="solid"/>
          </a:ln>
        </p:spPr>
        <p:txBody>
          <a:bodyPr lIns="57150" tIns="57150" rIns="57150" bIns="57150" anchor="ctr">
            <a:norm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语义检索</a:t>
            </a:r>
            <a:endParaRPr sz="1200" b="1">
              <a:solidFill>
                <a:srgbClr val="333333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向量索引与文本特征</a:t>
            </a:r>
            <a:endParaRPr sz="1200" b="1">
              <a:solidFill>
                <a:srgbClr val="3333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8" name="architecture-support-3"/>
          <p:cNvSpPr>
            <a:spLocks noGrp="1"/>
          </p:cNvSpPr>
          <p:nvPr/>
        </p:nvSpPr>
        <p:spPr>
          <a:xfrm>
            <a:off x="6143625" y="4686300"/>
            <a:ext cx="2238375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9525">
            <a:solidFill>
              <a:srgbClr val="D3D7DC"/>
            </a:solidFill>
            <a:prstDash val="solid"/>
          </a:ln>
        </p:spPr>
        <p:txBody>
          <a:bodyPr lIns="57150" tIns="57150" rIns="57150" bIns="57150" anchor="ctr">
            <a:norm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字段可信度</a:t>
            </a:r>
            <a:endParaRPr sz="1200" b="1">
              <a:solidFill>
                <a:srgbClr val="333333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原始 / 模拟来源标签</a:t>
            </a:r>
            <a:endParaRPr sz="1200" b="1">
              <a:solidFill>
                <a:srgbClr val="3333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9" name="architecture-support-4"/>
          <p:cNvSpPr>
            <a:spLocks noGrp="1"/>
          </p:cNvSpPr>
          <p:nvPr/>
        </p:nvSpPr>
        <p:spPr>
          <a:xfrm>
            <a:off x="8715375" y="4686300"/>
            <a:ext cx="2238375" cy="74295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9525">
            <a:solidFill>
              <a:srgbClr val="D3D7DC"/>
            </a:solidFill>
            <a:prstDash val="solid"/>
          </a:ln>
        </p:spPr>
        <p:txBody>
          <a:bodyPr lIns="57150" tIns="57150" rIns="57150" bIns="57150" anchor="ctr">
            <a:norm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会话与日志</a:t>
            </a:r>
            <a:endParaRPr sz="1200" b="1">
              <a:solidFill>
                <a:srgbClr val="333333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上一轮结果 + raw usage</a:t>
            </a:r>
            <a:endParaRPr sz="1200" b="1">
              <a:solidFill>
                <a:srgbClr val="333333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367602" y="448664"/>
            <a:ext cx="11049000" cy="553289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数据基础与事实边界</a:t>
            </a:r>
            <a:endParaRPr b="0"/>
          </a:p>
        </p:txBody>
      </p:sp>
      <p:pic>
        <p:nvPicPr>
          <p:cNvPr id="12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279" y="8178"/>
            <a:ext cx="1007745" cy="993775"/>
          </a:xfrm>
          <a:prstGeom prst="rect">
            <a:avLst/>
          </a:prstGeom>
        </p:spPr>
      </p:pic>
      <p:sp>
        <p:nvSpPr>
          <p:cNvPr id="9" name="页脚占位符 8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5</a:t>
            </a: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1365250" y="1716405"/>
            <a:ext cx="9479280" cy="31470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数据规模：257,384 条商品记录；255,707 条处于可推荐状态；Fashion200K 严格质量门槛通过 3,294 条。</a:t>
            </a:r>
            <a:endParaRPr sz="2000"/>
          </a:p>
          <a:p>
            <a:pPr algn="l">
              <a:buNone/>
            </a:pPr>
            <a:endParaRPr sz="2000"/>
          </a:p>
          <a:p>
            <a:pPr algn="l"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不可编造字段：商品ID、标题、品类、图片链接与明确颜色均来自原始数据；排序同时记录字段来源。</a:t>
            </a:r>
            <a:endParaRPr sz="2000"/>
          </a:p>
          <a:p>
            <a:pPr algn="l">
              <a:buNone/>
            </a:pPr>
            <a:endParaRPr sz="2000"/>
          </a:p>
          <a:p>
            <a:pPr algn="l"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演示字段：库存全部为模拟值，尺码、季节以及较多价格为模拟或补齐值，页面必须避免描述成实时事实。</a:t>
            </a:r>
            <a:endParaRPr sz="2000"/>
          </a:p>
          <a:p>
            <a:pPr algn="l">
              <a:buNone/>
            </a:pPr>
            <a:endParaRPr sz="2000"/>
          </a:p>
          <a:p>
            <a:pPr algn="l"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7570" y="448628"/>
            <a:ext cx="11049000" cy="553307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意图理解与多轮对话</a:t>
            </a:r>
            <a:endParaRPr b="0"/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1143635" y="1247775"/>
            <a:ext cx="9478645" cy="479488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0000"/>
              </a:lnSpc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（1）结构化理解</a:t>
            </a:r>
            <a:endParaRPr sz="1850">
              <a:latin typeface="楷体"/>
              <a:ea typeface="楷体"/>
              <a:cs typeface="楷体"/>
            </a:endParaRPr>
          </a:p>
          <a:p>
            <a:pPr>
              <a:lnSpc>
                <a:spcPct val="120000"/>
              </a:lnSpc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输出意图类型、confidence、clarify_needed、clarify_question，以及品类、颜色、尺码、预算、风格、负向条件等槽位。</a:t>
            </a:r>
            <a:endParaRPr sz="1850">
              <a:latin typeface="楷体"/>
              <a:ea typeface="楷体"/>
              <a:cs typeface="楷体"/>
            </a:endParaRPr>
          </a:p>
          <a:p>
            <a:pPr>
              <a:lnSpc>
                <a:spcPct val="150000"/>
              </a:lnSpc>
              <a:buNone/>
            </a:pPr>
            <a:endParaRPr sz="1850">
              <a:latin typeface="楷体"/>
              <a:ea typeface="楷体"/>
              <a:cs typeface="楷体"/>
            </a:endParaRPr>
          </a:p>
          <a:p>
            <a:pPr>
              <a:lnSpc>
                <a:spcPct val="120000"/>
              </a:lnSpc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（2）澄清与冲突</a:t>
            </a:r>
            <a:endParaRPr sz="1850">
              <a:latin typeface="楷体"/>
              <a:ea typeface="楷体"/>
              <a:cs typeface="楷体"/>
            </a:endParaRPr>
          </a:p>
          <a:p>
            <a:pPr>
              <a:lnSpc>
                <a:spcPct val="120000"/>
              </a:lnSpc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信息不足时先问关键问题；出现“黑色但不要深色”等矛盾时提示冲突，不直接给出看似合理的结果。</a:t>
            </a:r>
            <a:endParaRPr sz="1850">
              <a:latin typeface="楷体"/>
              <a:ea typeface="楷体"/>
              <a:cs typeface="楷体"/>
            </a:endParaRPr>
          </a:p>
          <a:p>
            <a:pPr>
              <a:lnSpc>
                <a:spcPct val="150000"/>
              </a:lnSpc>
              <a:buNone/>
            </a:pPr>
            <a:endParaRPr sz="1850">
              <a:latin typeface="楷体"/>
              <a:ea typeface="楷体"/>
              <a:cs typeface="楷体"/>
            </a:endParaRPr>
          </a:p>
          <a:p>
            <a:pPr>
              <a:lnSpc>
                <a:spcPct val="120000"/>
              </a:lnSpc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（3）多轮状态更新</a:t>
            </a:r>
            <a:endParaRPr sz="1850">
              <a:latin typeface="楷体"/>
              <a:ea typeface="楷体"/>
              <a:cs typeface="楷体"/>
            </a:endParaRPr>
          </a:p>
          <a:p>
            <a:pPr>
              <a:lnSpc>
                <a:spcPct val="120000"/>
              </a:lnSpc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支持新增、覆盖和取消条件，并结合上一轮商品卡片理解“换一件”“第2件多少钱”“它有库存吗”等追问。</a:t>
            </a:r>
            <a:endParaRPr sz="1850">
              <a:latin typeface="楷体"/>
              <a:ea typeface="楷体"/>
              <a:cs typeface="楷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96152" y="496924"/>
            <a:ext cx="11049000" cy="553289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融合推荐与风格匹配</a:t>
            </a:r>
            <a:endParaRPr sz="2800" b="0"/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990600" y="1097915"/>
            <a:ext cx="9003665" cy="520065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0000"/>
              </a:lnSpc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（1）先硬筛选，再排序</a:t>
            </a: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20000"/>
              </a:lnSpc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品类、颜色、尺码、预算与库存条件先作为硬约束，避免高相似度商品越过用户明确要求。</a:t>
            </a: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50000"/>
              </a:lnSpc>
              <a:buNone/>
            </a:pP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20000"/>
              </a:lnSpc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（2）语义 35% + 规则 65%</a:t>
            </a: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20000"/>
              </a:lnSpc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语义分处理自然语言偏好；规则分综合匹配项、评分、字段来源与完整度。当前权重来自工程设定，仍需用人工Gold校准。</a:t>
            </a: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50000"/>
              </a:lnSpc>
              <a:buNone/>
            </a:pP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20000"/>
              </a:lnSpc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（3）风格词必须有证据</a:t>
            </a: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20000"/>
              </a:lnSpc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“温柔风”等偏好只从标题、材质、features 和 description 的真实词项判断，不凭空给商品贴风格标签；卡片用第1件、第2件、第3件降低追问成本。</a:t>
            </a:r>
            <a:endParaRPr sz="1800">
              <a:latin typeface="楷体"/>
              <a:ea typeface="楷体"/>
              <a:cs typeface="楷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7570" y="448628"/>
            <a:ext cx="11049000" cy="553307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推荐理由与 SafetyGuard</a:t>
            </a:r>
            <a:endParaRPr sz="2800" b="0"/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1858645" y="1002030"/>
            <a:ext cx="8475345" cy="520065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20000"/>
              </a:lnSpc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（1）ProductExplanation</a:t>
            </a:r>
            <a:endParaRPr>
              <a:latin typeface="楷体"/>
              <a:ea typeface="楷体"/>
              <a:cs typeface="楷体"/>
            </a:endParaRPr>
          </a:p>
          <a:p>
            <a:pPr>
              <a:lnSpc>
                <a:spcPct val="120000"/>
              </a:lnSpc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推荐理由从用户条件与商品字段建立对应关系，例如“浅色 + 连衣裙 + 预算内”，不再只输出商品编号或泛化文案。</a:t>
            </a:r>
            <a:endParaRPr>
              <a:latin typeface="楷体"/>
              <a:ea typeface="楷体"/>
              <a:cs typeface="楷体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20000"/>
              </a:lnSpc>
              <a:buClrTx/>
              <a:buSzTx/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（2）事实核验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20000"/>
              </a:lnSpc>
              <a:buClrTx/>
              <a:buSzTx/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逐项检查理由中的价格、材质、颜色、尺码和库存说法；模拟字段必须按演示数据表述，不能伪装成实时库存或真实成交价。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20000"/>
              </a:lnSpc>
              <a:buClrTx/>
              <a:buSzTx/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（3）安全决策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20000"/>
              </a:lnSpc>
              <a:buClrTx/>
              <a:buSzTx/>
              <a:buNone/>
              <a:def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7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SafetyGuard 输出 PASS / REWRITE / BLOCK：事实一致则通过，可修正话术则重写，关键事实不可验证或违规承诺则阻断。每次有效API请求保留原始 usage。</a:t>
            </a:r>
            <a:endParaRPr sz="1800">
              <a:latin typeface="楷体"/>
              <a:ea typeface="楷体"/>
              <a:cs typeface="楷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7570" y="448628"/>
            <a:ext cx="11049000" cy="553307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前端交互与腾讯云部署</a:t>
            </a:r>
            <a:endParaRPr sz="2800" b="0"/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1858645" y="1002030"/>
            <a:ext cx="8475345" cy="6675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6000"/>
              </a:lnSpc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（1）演示前端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Next.js 对话页展示商品卡片、编号、图片、价格、尺码、推荐理由与安全结果；用户可以基于上一轮结果继续追问。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（2）服务端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FastAPI 提供意图解析、商品检索、排序、解释与安全检查接口，SQLite/向量索引承载当前数据规模。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（3）公网部署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腾讯云 Ubuntu 上由 Nginx 反向代理前后端，使用 HTTPS 对外提供服务。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公网地址：https://43.159.138.39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（4）更新流程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本地开发完成后同步代码，在服务器执行构建、重启与健康检查。</a:t>
            </a:r>
            <a:endParaRPr sz="1800">
              <a:latin typeface="楷体"/>
              <a:ea typeface="楷体"/>
              <a:cs typeface="楷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448913"/>
            <a:ext cx="9502140" cy="552450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测试与阶段性评测</a:t>
            </a:r>
            <a:endParaRPr b="0" i="0"/>
          </a:p>
        </p:txBody>
      </p:sp>
      <p:pic>
        <p:nvPicPr>
          <p:cNvPr id="10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7235" y="0"/>
            <a:ext cx="783590" cy="748665"/>
          </a:xfrm>
          <a:prstGeom prst="rect">
            <a:avLst/>
          </a:prstGeom>
        </p:spPr>
      </p:pic>
      <p:pic>
        <p:nvPicPr>
          <p:cNvPr id="109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2610" y="7620"/>
            <a:ext cx="1007745" cy="993775"/>
          </a:xfrm>
          <a:prstGeom prst="rect">
            <a:avLst/>
          </a:prstGeom>
        </p:spPr>
      </p:pic>
      <p:sp>
        <p:nvSpPr>
          <p:cNvPr id="10" name="AutoShape 2"/>
          <p:cNvSpPr>
            <a:spLocks noGrp="1"/>
          </p:cNvSpPr>
          <p:nvPr/>
        </p:nvSpPr>
        <p:spPr>
          <a:xfrm>
            <a:off x="58070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1" name="AutoShape 3"/>
          <p:cNvSpPr>
            <a:spLocks noGrp="1"/>
          </p:cNvSpPr>
          <p:nvPr/>
        </p:nvSpPr>
        <p:spPr>
          <a:xfrm>
            <a:off x="6292850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2" name="AutoShape 4"/>
          <p:cNvSpPr>
            <a:spLocks noGrp="1"/>
          </p:cNvSpPr>
          <p:nvPr/>
        </p:nvSpPr>
        <p:spPr>
          <a:xfrm>
            <a:off x="105505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3" name="AutoShape 5"/>
          <p:cNvSpPr>
            <a:spLocks noGrp="1"/>
          </p:cNvSpPr>
          <p:nvPr/>
        </p:nvSpPr>
        <p:spPr>
          <a:xfrm>
            <a:off x="10972800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4" name="AutoShape 6"/>
          <p:cNvSpPr>
            <a:spLocks noGrp="1"/>
          </p:cNvSpPr>
          <p:nvPr/>
        </p:nvSpPr>
        <p:spPr>
          <a:xfrm>
            <a:off x="11341100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6" name="AutoShape 8"/>
          <p:cNvSpPr>
            <a:spLocks noGrp="1"/>
          </p:cNvSpPr>
          <p:nvPr/>
        </p:nvSpPr>
        <p:spPr>
          <a:xfrm>
            <a:off x="5959475" y="793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7" name="AutoShape 9"/>
          <p:cNvSpPr>
            <a:spLocks noGrp="1"/>
          </p:cNvSpPr>
          <p:nvPr/>
        </p:nvSpPr>
        <p:spPr>
          <a:xfrm>
            <a:off x="6445250" y="793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8" name="AutoShape 10"/>
          <p:cNvSpPr>
            <a:spLocks noGrp="1"/>
          </p:cNvSpPr>
          <p:nvPr/>
        </p:nvSpPr>
        <p:spPr>
          <a:xfrm>
            <a:off x="10702925" y="793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9" name="AutoShape 11"/>
          <p:cNvSpPr>
            <a:spLocks noGrp="1"/>
          </p:cNvSpPr>
          <p:nvPr/>
        </p:nvSpPr>
        <p:spPr>
          <a:xfrm>
            <a:off x="11125200" y="793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20" name="AutoShape 12"/>
          <p:cNvSpPr>
            <a:spLocks noGrp="1"/>
          </p:cNvSpPr>
          <p:nvPr/>
        </p:nvSpPr>
        <p:spPr>
          <a:xfrm>
            <a:off x="11493500" y="793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10</a:t>
            </a: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1288415" y="1367155"/>
            <a:ext cx="4471035" cy="2061845"/>
          </a:xfrm>
          <a:prstGeom prst="rect">
            <a:avLst/>
          </a:prstGeom>
          <a:noFill/>
        </p:spPr>
        <p:txBody>
          <a:bodyPr wrap="square" anchor="t">
            <a:normAutofit fontScale="67678"/>
          </a:bodyPr>
          <a:lstStyle/>
          <a:p>
            <a:pPr marL="0" indent="0">
              <a:lnSpc>
                <a:spcPct val="116000"/>
              </a:lnSpc>
              <a:buNone/>
              <a:def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工程验证</a:t>
            </a:r>
            <a:endParaRPr sz="1600"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6000"/>
              </a:lnSpc>
              <a:buNone/>
              <a:def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后端测试：54 passed</a:t>
            </a:r>
            <a:endParaRPr sz="1600"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6000"/>
              </a:lnSpc>
              <a:buNone/>
              <a:def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前端：production build passed</a:t>
            </a:r>
            <a:endParaRPr sz="1600"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50000"/>
              </a:lnSpc>
              <a:buNone/>
            </a:pPr>
            <a:endParaRPr sz="1600"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6000"/>
              </a:lnSpc>
              <a:buNone/>
              <a:def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AI 草稿回归</a:t>
            </a:r>
            <a:endParaRPr sz="1600"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6000"/>
              </a:lnSpc>
              <a:buNone/>
              <a:def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意图基线：90%</a:t>
            </a:r>
            <a:endParaRPr sz="1600"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6000"/>
              </a:lnSpc>
              <a:buNone/>
              <a:def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推荐覆盖率：86.7%</a:t>
            </a:r>
            <a:endParaRPr sz="1600"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6000"/>
              </a:lnSpc>
              <a:buNone/>
              <a:def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硬约束违规：0</a:t>
            </a:r>
            <a:endParaRPr sz="1600"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6000"/>
              </a:lnSpc>
              <a:buNone/>
              <a:def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确定性安全检查：100%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当前问题与下一步</a:t>
            </a:r>
            <a:endParaRPr b="0"/>
          </a:p>
        </p:txBody>
      </p:sp>
      <p:pic>
        <p:nvPicPr>
          <p:cNvPr id="1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7235" y="0"/>
            <a:ext cx="783590" cy="748665"/>
          </a:xfrm>
          <a:prstGeom prst="rect">
            <a:avLst/>
          </a:prstGeom>
        </p:spPr>
      </p:pic>
      <p:pic>
        <p:nvPicPr>
          <p:cNvPr id="13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2610" y="7620"/>
            <a:ext cx="1007745" cy="993775"/>
          </a:xfrm>
          <a:prstGeom prst="rect">
            <a:avLst/>
          </a:prstGeom>
        </p:spPr>
      </p:pic>
      <p:sp>
        <p:nvSpPr>
          <p:cNvPr id="8" name="文本框 7"/>
          <p:cNvSpPr>
            <a:spLocks noGrp="1"/>
          </p:cNvSpPr>
          <p:nvPr/>
        </p:nvSpPr>
        <p:spPr>
          <a:xfrm>
            <a:off x="934720" y="1341120"/>
            <a:ext cx="9572625" cy="501523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457200">
              <a:lnSpc>
                <a:spcPct val="116000"/>
              </a:lnSpc>
              <a:spcBef>
                <a:spcPts val="0"/>
              </a:spcBef>
              <a:buFont typeface="Wingdings" panose="05000000000000000000"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阶段成果：已经打通可公开访问的对话式推荐闭环，包含意图理解、多轮筛选、融合排序、商品卡片、推荐理由与 SafetyGuard。</a:t>
            </a: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50000"/>
              </a:lnSpc>
              <a:spcBef>
                <a:spcPts val="0"/>
              </a:spcBef>
              <a:buFont typeface="Wingdings" panose="05000000000000000000"/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16000"/>
              </a:lnSpc>
              <a:spcBef>
                <a:spcPts val="0"/>
              </a:spcBef>
              <a:buFont typeface="Wingdings" panose="05000000000000000000"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当前最关键的问题：</a:t>
            </a: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16000"/>
              </a:lnSpc>
              <a:spcBef>
                <a:spcPts val="0"/>
              </a:spcBef>
              <a:buFont typeface="Wingdings" panose="05000000000000000000"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图片与颜色/品类变体仍可能不一致，部分链接失效</a:t>
            </a: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16000"/>
              </a:lnSpc>
              <a:spcBef>
                <a:spcPts val="0"/>
              </a:spcBef>
              <a:buFont typeface="Wingdings" panose="05000000000000000000"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库存、季节、尺码与较多价格属于演示数据</a:t>
            </a: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16000"/>
              </a:lnSpc>
              <a:spcBef>
                <a:spcPts val="0"/>
              </a:spcBef>
              <a:buFont typeface="Wingdings" panose="05000000000000000000"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35/65权重尚未经过人工相关性评测校准</a:t>
            </a: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50000"/>
              </a:lnSpc>
              <a:spcBef>
                <a:spcPts val="0"/>
              </a:spcBef>
              <a:buFont typeface="Wingdings" panose="05000000000000000000"/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16000"/>
              </a:lnSpc>
              <a:spcBef>
                <a:spcPts val="0"/>
              </a:spcBef>
              <a:buFont typeface="Wingdings" panose="05000000000000000000"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下一步优先级：</a:t>
            </a: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16000"/>
              </a:lnSpc>
              <a:spcBef>
                <a:spcPts val="0"/>
              </a:spcBef>
              <a:buFont typeface="Wingdings" panose="05000000000000000000"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扩大图片—颜色—品类一致性审计，建立稳定可用图片池</a:t>
            </a: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16000"/>
              </a:lnSpc>
              <a:spcBef>
                <a:spcPts val="0"/>
              </a:spcBef>
              <a:buFont typeface="Wingdings" panose="05000000000000000000"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建设人工 Gold 集，补齐 Hit@3 / MRR / NDCG 与事实一致率</a:t>
            </a: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16000"/>
              </a:lnSpc>
              <a:spcBef>
                <a:spcPts val="0"/>
              </a:spcBef>
              <a:buFont typeface="Wingdings" panose="05000000000000000000"/>
              <a:buNone/>
              <a:def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根据真实评测调整规则分和融合权重，再优化推荐多样性</a:t>
            </a: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156" name="文本框 3"/>
          <p:cNvSpPr>
            <a:spLocks noGrp="1"/>
          </p:cNvSpPr>
          <p:nvPr/>
        </p:nvSpPr>
        <p:spPr>
          <a:xfrm>
            <a:off x="6708808" y="2576718"/>
            <a:ext cx="4927669" cy="22860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rmAutofit/>
          </a:bodyPr>
          <a:lstStyle/>
          <a:p>
            <a:pPr algn="ctr">
              <a:defRPr sz="34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请老师批评指正</a:t>
            </a:r>
            <a:endParaRPr sz="7200" b="1">
              <a:solidFill>
                <a:srgbClr val="99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953135" y="2077188"/>
            <a:ext cx="4590415" cy="28346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rmAutofit/>
          </a:bodyPr>
          <a:lstStyle/>
          <a:p>
            <a:pPr algn="ctr"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 for</a:t>
            </a:r>
            <a:endParaRPr sz="60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listening!</a:t>
            </a:r>
            <a:endParaRPr sz="60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2201</Words>
  <Application>WPS 表格</Application>
  <PresentationFormat>Converted Presentation</PresentationFormat>
  <Paragraphs>181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汉仪旗黑</vt:lpstr>
      <vt:lpstr>Arial</vt:lpstr>
      <vt:lpstr>Broadway</vt:lpstr>
      <vt:lpstr>Thonburi</vt:lpstr>
      <vt:lpstr>微软雅黑</vt:lpstr>
      <vt:lpstr>黑体</vt:lpstr>
      <vt:lpstr>Aptos</vt:lpstr>
      <vt:lpstr>楷体</vt:lpstr>
      <vt:lpstr>宋体</vt:lpstr>
      <vt:lpstr>Wingdings</vt:lpstr>
      <vt:lpstr>Calibri</vt:lpstr>
      <vt:lpstr>Helvetica Neue</vt:lpstr>
      <vt:lpstr>汉仪中黑KW</vt:lpstr>
      <vt:lpstr>微软雅黑</vt:lpstr>
      <vt:lpstr>宋体</vt:lpstr>
      <vt:lpstr>Arial Unicode MS</vt:lpstr>
      <vt:lpstr>汉仪书宋二KW</vt:lpstr>
      <vt:lpstr>汉仪楷体KW</vt:lpstr>
      <vt:lpstr>Aptos</vt:lpstr>
      <vt:lpstr>Wingdings</vt:lpstr>
      <vt:lpstr>微软雅黑</vt:lpstr>
      <vt:lpstr>楷体</vt:lpstr>
      <vt:lpstr>黑体</vt:lpstr>
      <vt:lpstr>Office 主题</vt:lpstr>
      <vt:lpstr>1_Office 主题</vt:lpstr>
      <vt:lpstr>PowerPoint 演示文稿</vt:lpstr>
      <vt:lpstr>项目背景：为什么需要对话式服装导购</vt:lpstr>
      <vt:lpstr>研究问题与项目目标</vt:lpstr>
      <vt:lpstr>PowerPoint 演示文稿</vt:lpstr>
      <vt:lpstr>数据基础与事实边界</vt:lpstr>
      <vt:lpstr>意图理解与多轮对话</vt:lpstr>
      <vt:lpstr>融合推荐与风格匹配</vt:lpstr>
      <vt:lpstr>推荐理由与 SafetyGuard</vt:lpstr>
      <vt:lpstr>前端交互与腾讯云部署</vt:lpstr>
      <vt:lpstr>测试与阶段性评测</vt:lpstr>
      <vt:lpstr>当前问题与下一步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WPS_1602418718</cp:lastModifiedBy>
  <cp:revision>2</cp:revision>
  <dcterms:created xsi:type="dcterms:W3CDTF">2026-08-25T02:39:18Z</dcterms:created>
  <dcterms:modified xsi:type="dcterms:W3CDTF">2026-08-25T02:39:18Z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647170C4BE9D0B7A3C008D6A7DC780FD_42</vt:lpwstr>
  </property>
  <property fmtid="{D5CDD505-2E9C-101B-9397-08002B2CF9AE}" pid="3" name="KSOProductBuildVer">
    <vt:lpwstr>2052-12.1.25895.25895</vt:lpwstr>
  </property>
</Properties>
</file>